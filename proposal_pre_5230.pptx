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4" r:id="rId7"/>
    <p:sldId id="262"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75" autoAdjust="0"/>
  </p:normalViewPr>
  <p:slideViewPr>
    <p:cSldViewPr snapToGrid="0">
      <p:cViewPr>
        <p:scale>
          <a:sx n="100" d="100"/>
          <a:sy n="100" d="100"/>
        </p:scale>
        <p:origin x="75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AC287C-CF89-4D0D-B40A-F8E48D0E2CA0}" type="datetimeFigureOut">
              <a:rPr lang="zh-CN" altLang="en-US" smtClean="0"/>
              <a:t>2026/9/25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A8907A-AF5F-4FD5-BB37-57387E7637C1}" type="slidenum">
              <a:rPr lang="zh-CN" altLang="en-US" smtClean="0"/>
              <a:t>‹#›</a:t>
            </a:fld>
            <a:endParaRPr lang="zh-CN" altLang="en-US"/>
          </a:p>
        </p:txBody>
      </p:sp>
    </p:spTree>
    <p:extLst>
      <p:ext uri="{BB962C8B-B14F-4D97-AF65-F5344CB8AC3E}">
        <p14:creationId xmlns:p14="http://schemas.microsoft.com/office/powerpoint/2010/main" val="2460310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en-US" altLang="zh-CN" dirty="0"/>
              <a:t>An interactive or embodied system has to respond while the action is still happening</a:t>
            </a:r>
          </a:p>
          <a:p>
            <a:pPr marL="228600" indent="-228600">
              <a:buAutoNum type="arabicPeriod"/>
            </a:pPr>
            <a:r>
              <a:rPr lang="en-US" altLang="zh-CN" dirty="0"/>
              <a:t>Sitting merges sitting still, sitting and looking at a phone, and sitting and waving. Those situations call for different responses.</a:t>
            </a:r>
          </a:p>
          <a:p>
            <a:pPr marL="228600" indent="-228600">
              <a:buAutoNum type="arabicPeriod"/>
            </a:pPr>
            <a:r>
              <a:rPr lang="en-US" altLang="zh-CN" dirty="0"/>
              <a:t>A small model next to the camera is often unsure, especially when two actions look alike. A server can check that sentence, but the check needs the picture. Sending every picture makes the user wait on the uplink. Keeping every picture on the phone leaves wrong sentences on the screen. The question is when a local sentence is safe to show, and when the picture has to cross the link.</a:t>
            </a:r>
            <a:endParaRPr lang="zh-CN" altLang="en-US" dirty="0"/>
          </a:p>
        </p:txBody>
      </p:sp>
      <p:sp>
        <p:nvSpPr>
          <p:cNvPr id="4" name="灯片编号占位符 3"/>
          <p:cNvSpPr>
            <a:spLocks noGrp="1"/>
          </p:cNvSpPr>
          <p:nvPr>
            <p:ph type="sldNum" sz="quarter" idx="5"/>
          </p:nvPr>
        </p:nvSpPr>
        <p:spPr/>
        <p:txBody>
          <a:bodyPr/>
          <a:lstStyle/>
          <a:p>
            <a:fld id="{B8A8907A-AF5F-4FD5-BB37-57387E7637C1}" type="slidenum">
              <a:rPr lang="zh-CN" altLang="en-US" smtClean="0"/>
              <a:t>2</a:t>
            </a:fld>
            <a:endParaRPr lang="zh-CN" altLang="en-US"/>
          </a:p>
        </p:txBody>
      </p:sp>
    </p:spTree>
    <p:extLst>
      <p:ext uri="{BB962C8B-B14F-4D97-AF65-F5344CB8AC3E}">
        <p14:creationId xmlns:p14="http://schemas.microsoft.com/office/powerpoint/2010/main" val="859968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AE567-AF52-8F74-B155-E58D35447D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D912BE-0D0D-76A6-0BCD-506CDE653C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3F0A07F-515B-F7E7-AD5C-42FD179B7DEA}"/>
              </a:ext>
            </a:extLst>
          </p:cNvPr>
          <p:cNvSpPr>
            <a:spLocks noGrp="1"/>
          </p:cNvSpPr>
          <p:nvPr>
            <p:ph type="body" idx="1"/>
          </p:nvPr>
        </p:nvSpPr>
        <p:spPr/>
        <p:txBody>
          <a:bodyPr/>
          <a:lstStyle/>
          <a:p>
            <a:pPr marL="0" indent="0">
              <a:buNone/>
            </a:pPr>
            <a:r>
              <a:rPr lang="en-US" altLang="zh-CN" dirty="0"/>
              <a:t>1. Human activity recognition</a:t>
            </a:r>
            <a:br>
              <a:rPr lang="en-US" altLang="zh-CN" dirty="0"/>
            </a:br>
            <a:r>
              <a:rPr lang="en-US" altLang="zh-CN" dirty="0"/>
              <a:t>Sensors differ: RGB, skeleton, IMU, radar, Wi-Fi. The output is usually one closed label.</a:t>
            </a:r>
            <a:br>
              <a:rPr lang="en-US" altLang="zh-CN" dirty="0"/>
            </a:br>
            <a:r>
              <a:rPr lang="en-US" altLang="zh-CN" dirty="0"/>
              <a:t>Open-set models can reject an unknown action. They do not describe it.</a:t>
            </a:r>
            <a:br>
              <a:rPr lang="en-US" altLang="zh-CN" dirty="0"/>
            </a:br>
            <a:r>
              <a:rPr lang="en-US" altLang="zh-CN" dirty="0"/>
              <a:t>Open-vocabulary models match a clip to a class name. Online detectors do this while the action is ongoing.</a:t>
            </a:r>
            <a:br>
              <a:rPr lang="en-US" altLang="zh-CN" dirty="0"/>
            </a:br>
            <a:r>
              <a:rPr lang="en-US" altLang="zh-CN" dirty="0"/>
              <a:t>Free-form captions exist (OV-HAR, </a:t>
            </a:r>
            <a:r>
              <a:rPr lang="en-US" altLang="zh-CN" dirty="0" err="1"/>
              <a:t>OpenHOUSE</a:t>
            </a:r>
            <a:r>
              <a:rPr lang="en-US" altLang="zh-CN" dirty="0"/>
              <a:t>), evaluated on recorded video, not on a phone link.</a:t>
            </a:r>
            <a:br>
              <a:rPr lang="en-US" altLang="zh-CN" dirty="0"/>
            </a:br>
            <a:r>
              <a:rPr lang="en-US" altLang="zh-CN" dirty="0"/>
              <a:t>Gap: a sentence on the phone, before any server, while the person is still moving.</a:t>
            </a:r>
            <a:br>
              <a:rPr lang="en-US" altLang="zh-CN" dirty="0"/>
            </a:br>
            <a:r>
              <a:rPr lang="en-US" altLang="zh-CN" dirty="0"/>
              <a:t>2. Vision-language models</a:t>
            </a:r>
            <a:br>
              <a:rPr lang="en-US" altLang="zh-CN" dirty="0"/>
            </a:br>
            <a:r>
              <a:rPr lang="en-US" altLang="zh-CN" dirty="0"/>
              <a:t>CLIP retrieves a sentence from a fixed bank. It does not write a new one.</a:t>
            </a:r>
            <a:br>
              <a:rPr lang="en-US" altLang="zh-CN" dirty="0"/>
            </a:br>
            <a:r>
              <a:rPr lang="en-US" altLang="zh-CN" dirty="0"/>
              <a:t>Generative VLMs write the sentence token by token. Accuracy follows model size (Qwen2-VL, up to 72B).</a:t>
            </a:r>
            <a:br>
              <a:rPr lang="en-US" altLang="zh-CN" dirty="0"/>
            </a:br>
            <a:r>
              <a:rPr lang="en-US" altLang="zh-CN" dirty="0"/>
              <a:t>Phone-scale models exist: </a:t>
            </a:r>
            <a:r>
              <a:rPr lang="en-US" altLang="zh-CN" dirty="0" err="1"/>
              <a:t>MiniCPM</a:t>
            </a:r>
            <a:r>
              <a:rPr lang="en-US" altLang="zh-CN" dirty="0"/>
              <a:t>-V (2B–8B), SmolVLM-256M (under 1 GB).</a:t>
            </a:r>
            <a:br>
              <a:rPr lang="en-US" altLang="zh-CN" dirty="0"/>
            </a:br>
            <a:r>
              <a:rPr lang="en-US" altLang="zh-CN" dirty="0"/>
              <a:t>Public scores cover documents, charts, and general questions, not fine activity contrasts.</a:t>
            </a:r>
            <a:br>
              <a:rPr lang="en-US" altLang="zh-CN" dirty="0"/>
            </a:br>
            <a:r>
              <a:rPr lang="en-US" altLang="zh-CN" dirty="0"/>
              <a:t>Gap: a small model can write the sentence. It does not say which sentences are safe.</a:t>
            </a:r>
            <a:br>
              <a:rPr lang="en-US" altLang="zh-CN" dirty="0"/>
            </a:br>
            <a:r>
              <a:rPr lang="en-US" altLang="zh-CN" dirty="0"/>
              <a:t>3. Client–server collaboration</a:t>
            </a:r>
            <a:br>
              <a:rPr lang="en-US" altLang="zh-CN" dirty="0"/>
            </a:br>
            <a:r>
              <a:rPr lang="en-US" altLang="zh-CN" dirty="0"/>
              <a:t>Split by layers: the server receives image features, and the user waits.</a:t>
            </a:r>
            <a:br>
              <a:rPr lang="en-US" altLang="zh-CN" dirty="0"/>
            </a:br>
            <a:r>
              <a:rPr lang="en-US" altLang="zh-CN" dirty="0"/>
              <a:t>Split by tokens: a small model drafts, a large model verifies. The server still reads the picture.</a:t>
            </a:r>
            <a:br>
              <a:rPr lang="en-US" altLang="zh-CN" dirty="0"/>
            </a:br>
            <a:r>
              <a:rPr lang="en-US" altLang="zh-CN" dirty="0" err="1"/>
              <a:t>SpotVLM</a:t>
            </a:r>
            <a:r>
              <a:rPr lang="en-US" altLang="zh-CN" dirty="0"/>
              <a:t> answers on the device at once. The cloud caption is context for later frames.</a:t>
            </a:r>
            <a:br>
              <a:rPr lang="en-US" altLang="zh-CN" dirty="0"/>
            </a:br>
            <a:r>
              <a:rPr lang="en-US" altLang="zh-CN" dirty="0" err="1"/>
              <a:t>EdgeBoost</a:t>
            </a:r>
            <a:r>
              <a:rPr lang="en-US" altLang="zh-CN" dirty="0"/>
              <a:t> uploads only low-confidence images (20–55% fewer bytes) and returns a class label.</a:t>
            </a:r>
            <a:br>
              <a:rPr lang="en-US" altLang="zh-CN" dirty="0"/>
            </a:br>
            <a:r>
              <a:rPr lang="en-US" altLang="zh-CN" dirty="0"/>
              <a:t>Gap: show the sentence immediately, and send the picture only when that sentence is unsafe.</a:t>
            </a:r>
            <a:br>
              <a:rPr lang="en-US" altLang="zh-CN" dirty="0"/>
            </a:br>
            <a:r>
              <a:rPr lang="en-US" altLang="zh-CN" dirty="0"/>
              <a:t>4. Communication</a:t>
            </a:r>
            <a:br>
              <a:rPr lang="en-US" altLang="zh-CN" dirty="0"/>
            </a:br>
            <a:r>
              <a:rPr lang="en-US" altLang="zh-CN" dirty="0"/>
              <a:t>A base-station scheduler assigns resource blocks to a packet that is already formed.</a:t>
            </a:r>
            <a:br>
              <a:rPr lang="en-US" altLang="zh-CN" dirty="0"/>
            </a:br>
            <a:r>
              <a:rPr lang="en-US" altLang="zh-CN" dirty="0"/>
              <a:t>Semantic communication changes the utility from throughput to task success. The payload is still a feature tensor.</a:t>
            </a:r>
            <a:br>
              <a:rPr lang="en-US" altLang="zh-CN" dirty="0"/>
            </a:br>
            <a:r>
              <a:rPr lang="en-US" altLang="zh-CN" dirty="0"/>
              <a:t>Offloading chooses local or remote execution. Adaptive streaming changes how many bytes are sent.</a:t>
            </a:r>
            <a:br>
              <a:rPr lang="en-US" altLang="zh-CN" dirty="0"/>
            </a:br>
            <a:r>
              <a:rPr lang="en-US" altLang="zh-CN" dirty="0"/>
              <a:t>Gap: after the sentence is written, decide whether the picture follows, how large it is, and which phone is checked first.</a:t>
            </a:r>
            <a:endParaRPr lang="zh-CN" altLang="en-US" dirty="0"/>
          </a:p>
        </p:txBody>
      </p:sp>
      <p:sp>
        <p:nvSpPr>
          <p:cNvPr id="4" name="灯片编号占位符 3">
            <a:extLst>
              <a:ext uri="{FF2B5EF4-FFF2-40B4-BE49-F238E27FC236}">
                <a16:creationId xmlns:a16="http://schemas.microsoft.com/office/drawing/2014/main" id="{BB57FD20-29DA-06B2-A5B4-11B198102474}"/>
              </a:ext>
            </a:extLst>
          </p:cNvPr>
          <p:cNvSpPr>
            <a:spLocks noGrp="1"/>
          </p:cNvSpPr>
          <p:nvPr>
            <p:ph type="sldNum" sz="quarter" idx="5"/>
          </p:nvPr>
        </p:nvSpPr>
        <p:spPr/>
        <p:txBody>
          <a:bodyPr/>
          <a:lstStyle/>
          <a:p>
            <a:fld id="{B8A8907A-AF5F-4FD5-BB37-57387E7637C1}" type="slidenum">
              <a:rPr lang="zh-CN" altLang="en-US" smtClean="0"/>
              <a:t>3</a:t>
            </a:fld>
            <a:endParaRPr lang="zh-CN" altLang="en-US"/>
          </a:p>
        </p:txBody>
      </p:sp>
    </p:spTree>
    <p:extLst>
      <p:ext uri="{BB962C8B-B14F-4D97-AF65-F5344CB8AC3E}">
        <p14:creationId xmlns:p14="http://schemas.microsoft.com/office/powerpoint/2010/main" val="521507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F0369-CE41-A4B4-5DE3-AD9810C613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9C3EE6-0439-8124-49F5-EF87D8B603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385B28-849E-4553-C6D2-D4E8D2B4D9D5}"/>
              </a:ext>
            </a:extLst>
          </p:cNvPr>
          <p:cNvSpPr>
            <a:spLocks noGrp="1"/>
          </p:cNvSpPr>
          <p:nvPr>
            <p:ph type="body" idx="1"/>
          </p:nvPr>
        </p:nvSpPr>
        <p:spPr/>
        <p:txBody>
          <a:bodyPr/>
          <a:lstStyle/>
          <a:p>
            <a:pPr marL="0" indent="0">
              <a:buNone/>
            </a:pPr>
            <a:endParaRPr lang="zh-CN" altLang="en-US" dirty="0"/>
          </a:p>
        </p:txBody>
      </p:sp>
      <p:sp>
        <p:nvSpPr>
          <p:cNvPr id="4" name="灯片编号占位符 3">
            <a:extLst>
              <a:ext uri="{FF2B5EF4-FFF2-40B4-BE49-F238E27FC236}">
                <a16:creationId xmlns:a16="http://schemas.microsoft.com/office/drawing/2014/main" id="{0F1CFD27-8077-EA9C-8DED-BC2501FD1B10}"/>
              </a:ext>
            </a:extLst>
          </p:cNvPr>
          <p:cNvSpPr>
            <a:spLocks noGrp="1"/>
          </p:cNvSpPr>
          <p:nvPr>
            <p:ph type="sldNum" sz="quarter" idx="5"/>
          </p:nvPr>
        </p:nvSpPr>
        <p:spPr/>
        <p:txBody>
          <a:bodyPr/>
          <a:lstStyle/>
          <a:p>
            <a:fld id="{B8A8907A-AF5F-4FD5-BB37-57387E7637C1}" type="slidenum">
              <a:rPr lang="zh-CN" altLang="en-US" smtClean="0"/>
              <a:t>4</a:t>
            </a:fld>
            <a:endParaRPr lang="zh-CN" altLang="en-US"/>
          </a:p>
        </p:txBody>
      </p:sp>
    </p:spTree>
    <p:extLst>
      <p:ext uri="{BB962C8B-B14F-4D97-AF65-F5344CB8AC3E}">
        <p14:creationId xmlns:p14="http://schemas.microsoft.com/office/powerpoint/2010/main" val="3292169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FB0D1-5ADD-25BE-2E13-936E0492F7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4FD938-8A0D-7852-B135-5C2FF4AB70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D6F0A0-1B8C-E10C-26A5-6B722CAA4387}"/>
              </a:ext>
            </a:extLst>
          </p:cNvPr>
          <p:cNvSpPr>
            <a:spLocks noGrp="1"/>
          </p:cNvSpPr>
          <p:nvPr>
            <p:ph type="body" idx="1"/>
          </p:nvPr>
        </p:nvSpPr>
        <p:spPr/>
        <p:txBody>
          <a:bodyPr/>
          <a:lstStyle/>
          <a:p>
            <a:pPr marL="0" indent="0">
              <a:buNone/>
            </a:pPr>
            <a:endParaRPr lang="zh-CN" altLang="en-US" dirty="0"/>
          </a:p>
        </p:txBody>
      </p:sp>
      <p:sp>
        <p:nvSpPr>
          <p:cNvPr id="4" name="灯片编号占位符 3">
            <a:extLst>
              <a:ext uri="{FF2B5EF4-FFF2-40B4-BE49-F238E27FC236}">
                <a16:creationId xmlns:a16="http://schemas.microsoft.com/office/drawing/2014/main" id="{3B0E012B-A976-78C7-F326-AE29CFC53208}"/>
              </a:ext>
            </a:extLst>
          </p:cNvPr>
          <p:cNvSpPr>
            <a:spLocks noGrp="1"/>
          </p:cNvSpPr>
          <p:nvPr>
            <p:ph type="sldNum" sz="quarter" idx="5"/>
          </p:nvPr>
        </p:nvSpPr>
        <p:spPr/>
        <p:txBody>
          <a:bodyPr/>
          <a:lstStyle/>
          <a:p>
            <a:fld id="{B8A8907A-AF5F-4FD5-BB37-57387E7637C1}" type="slidenum">
              <a:rPr lang="zh-CN" altLang="en-US" smtClean="0"/>
              <a:t>5</a:t>
            </a:fld>
            <a:endParaRPr lang="zh-CN" altLang="en-US"/>
          </a:p>
        </p:txBody>
      </p:sp>
    </p:spTree>
    <p:extLst>
      <p:ext uri="{BB962C8B-B14F-4D97-AF65-F5344CB8AC3E}">
        <p14:creationId xmlns:p14="http://schemas.microsoft.com/office/powerpoint/2010/main" val="1849960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F0369-CE41-A4B4-5DE3-AD9810C613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9C3EE6-0439-8124-49F5-EF87D8B603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385B28-849E-4553-C6D2-D4E8D2B4D9D5}"/>
              </a:ext>
            </a:extLst>
          </p:cNvPr>
          <p:cNvSpPr>
            <a:spLocks noGrp="1"/>
          </p:cNvSpPr>
          <p:nvPr>
            <p:ph type="body" idx="1"/>
          </p:nvPr>
        </p:nvSpPr>
        <p:spPr/>
        <p:txBody>
          <a:bodyPr/>
          <a:lstStyle/>
          <a:p>
            <a:pPr marL="0" indent="0">
              <a:buNone/>
            </a:pPr>
            <a:endParaRPr lang="zh-CN" altLang="en-US" dirty="0"/>
          </a:p>
        </p:txBody>
      </p:sp>
      <p:sp>
        <p:nvSpPr>
          <p:cNvPr id="4" name="灯片编号占位符 3">
            <a:extLst>
              <a:ext uri="{FF2B5EF4-FFF2-40B4-BE49-F238E27FC236}">
                <a16:creationId xmlns:a16="http://schemas.microsoft.com/office/drawing/2014/main" id="{0F1CFD27-8077-EA9C-8DED-BC2501FD1B10}"/>
              </a:ext>
            </a:extLst>
          </p:cNvPr>
          <p:cNvSpPr>
            <a:spLocks noGrp="1"/>
          </p:cNvSpPr>
          <p:nvPr>
            <p:ph type="sldNum" sz="quarter" idx="5"/>
          </p:nvPr>
        </p:nvSpPr>
        <p:spPr/>
        <p:txBody>
          <a:bodyPr/>
          <a:lstStyle/>
          <a:p>
            <a:fld id="{B8A8907A-AF5F-4FD5-BB37-57387E7637C1}" type="slidenum">
              <a:rPr lang="zh-CN" altLang="en-US" smtClean="0"/>
              <a:t>6</a:t>
            </a:fld>
            <a:endParaRPr lang="zh-CN" altLang="en-US"/>
          </a:p>
        </p:txBody>
      </p:sp>
    </p:spTree>
    <p:extLst>
      <p:ext uri="{BB962C8B-B14F-4D97-AF65-F5344CB8AC3E}">
        <p14:creationId xmlns:p14="http://schemas.microsoft.com/office/powerpoint/2010/main" val="225723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89FB-929A-EFAC-4E8F-410E803078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2A2218-6FF8-FA94-0540-532F1C508F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18DC00-672D-E807-808D-7A06DD835BB5}"/>
              </a:ext>
            </a:extLst>
          </p:cNvPr>
          <p:cNvSpPr>
            <a:spLocks noGrp="1"/>
          </p:cNvSpPr>
          <p:nvPr>
            <p:ph type="body" idx="1"/>
          </p:nvPr>
        </p:nvSpPr>
        <p:spPr/>
        <p:txBody>
          <a:bodyPr/>
          <a:lstStyle/>
          <a:p>
            <a:pPr marL="0" indent="0">
              <a:buNone/>
            </a:pPr>
            <a:endParaRPr lang="zh-CN" altLang="en-US" dirty="0"/>
          </a:p>
        </p:txBody>
      </p:sp>
      <p:sp>
        <p:nvSpPr>
          <p:cNvPr id="4" name="灯片编号占位符 3">
            <a:extLst>
              <a:ext uri="{FF2B5EF4-FFF2-40B4-BE49-F238E27FC236}">
                <a16:creationId xmlns:a16="http://schemas.microsoft.com/office/drawing/2014/main" id="{A59B5AA0-AA6D-BBFB-46CE-4D74AB816A73}"/>
              </a:ext>
            </a:extLst>
          </p:cNvPr>
          <p:cNvSpPr>
            <a:spLocks noGrp="1"/>
          </p:cNvSpPr>
          <p:nvPr>
            <p:ph type="sldNum" sz="quarter" idx="5"/>
          </p:nvPr>
        </p:nvSpPr>
        <p:spPr/>
        <p:txBody>
          <a:bodyPr/>
          <a:lstStyle/>
          <a:p>
            <a:fld id="{B8A8907A-AF5F-4FD5-BB37-57387E7637C1}" type="slidenum">
              <a:rPr lang="zh-CN" altLang="en-US" smtClean="0"/>
              <a:t>7</a:t>
            </a:fld>
            <a:endParaRPr lang="zh-CN" altLang="en-US"/>
          </a:p>
        </p:txBody>
      </p:sp>
    </p:spTree>
    <p:extLst>
      <p:ext uri="{BB962C8B-B14F-4D97-AF65-F5344CB8AC3E}">
        <p14:creationId xmlns:p14="http://schemas.microsoft.com/office/powerpoint/2010/main" val="431155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E4287-F52B-6370-F6DB-0B2596433F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AD9650-B389-DB0B-B9F8-2875DE0BB0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9C5E79-070C-8529-F53A-216F923376CA}"/>
              </a:ext>
            </a:extLst>
          </p:cNvPr>
          <p:cNvSpPr>
            <a:spLocks noGrp="1"/>
          </p:cNvSpPr>
          <p:nvPr>
            <p:ph type="body" idx="1"/>
          </p:nvPr>
        </p:nvSpPr>
        <p:spPr/>
        <p:txBody>
          <a:bodyPr/>
          <a:lstStyle/>
          <a:p>
            <a:pPr marL="0" indent="0">
              <a:buNone/>
            </a:pPr>
            <a:endParaRPr lang="zh-CN" altLang="en-US" dirty="0"/>
          </a:p>
        </p:txBody>
      </p:sp>
      <p:sp>
        <p:nvSpPr>
          <p:cNvPr id="4" name="灯片编号占位符 3">
            <a:extLst>
              <a:ext uri="{FF2B5EF4-FFF2-40B4-BE49-F238E27FC236}">
                <a16:creationId xmlns:a16="http://schemas.microsoft.com/office/drawing/2014/main" id="{C0E93839-3FE5-16CA-0EBE-A5A6FF1EBEFD}"/>
              </a:ext>
            </a:extLst>
          </p:cNvPr>
          <p:cNvSpPr>
            <a:spLocks noGrp="1"/>
          </p:cNvSpPr>
          <p:nvPr>
            <p:ph type="sldNum" sz="quarter" idx="5"/>
          </p:nvPr>
        </p:nvSpPr>
        <p:spPr/>
        <p:txBody>
          <a:bodyPr/>
          <a:lstStyle/>
          <a:p>
            <a:fld id="{B8A8907A-AF5F-4FD5-BB37-57387E7637C1}" type="slidenum">
              <a:rPr lang="zh-CN" altLang="en-US" smtClean="0"/>
              <a:t>8</a:t>
            </a:fld>
            <a:endParaRPr lang="zh-CN" altLang="en-US"/>
          </a:p>
        </p:txBody>
      </p:sp>
    </p:spTree>
    <p:extLst>
      <p:ext uri="{BB962C8B-B14F-4D97-AF65-F5344CB8AC3E}">
        <p14:creationId xmlns:p14="http://schemas.microsoft.com/office/powerpoint/2010/main" val="2409149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9E38D9-41B7-CBFE-DBDF-9560E0AC1D1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182809F-581E-E877-EAB8-E7E782E6EB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4C24803-778B-0151-AF8F-BAA4C267BE78}"/>
              </a:ext>
            </a:extLst>
          </p:cNvPr>
          <p:cNvSpPr>
            <a:spLocks noGrp="1"/>
          </p:cNvSpPr>
          <p:nvPr>
            <p:ph type="dt" sz="half" idx="10"/>
          </p:nvPr>
        </p:nvSpPr>
        <p:spPr/>
        <p:txBody>
          <a:bodyPr/>
          <a:lstStyle/>
          <a:p>
            <a:fld id="{7DD3374B-0AE4-4DE6-A71D-4FE7CCE4858C}" type="datetime1">
              <a:rPr lang="zh-CN" altLang="en-US" smtClean="0"/>
              <a:t>2026/9/25</a:t>
            </a:fld>
            <a:endParaRPr lang="zh-CN" altLang="en-US"/>
          </a:p>
        </p:txBody>
      </p:sp>
      <p:sp>
        <p:nvSpPr>
          <p:cNvPr id="5" name="页脚占位符 4">
            <a:extLst>
              <a:ext uri="{FF2B5EF4-FFF2-40B4-BE49-F238E27FC236}">
                <a16:creationId xmlns:a16="http://schemas.microsoft.com/office/drawing/2014/main" id="{7514B4A4-0896-B80A-8760-8D8D55B3635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A847831-FDB8-A3E8-1FB1-2D0FE1FBC929}"/>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3351734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D62162-1BC8-A89F-9A88-DBD30F8DB96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95B1CC5-5028-D183-E3A4-E5A3579CA10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7AA339-4C74-B7D7-1369-143E9F39321E}"/>
              </a:ext>
            </a:extLst>
          </p:cNvPr>
          <p:cNvSpPr>
            <a:spLocks noGrp="1"/>
          </p:cNvSpPr>
          <p:nvPr>
            <p:ph type="dt" sz="half" idx="10"/>
          </p:nvPr>
        </p:nvSpPr>
        <p:spPr/>
        <p:txBody>
          <a:bodyPr/>
          <a:lstStyle/>
          <a:p>
            <a:fld id="{3DD6BBB1-7233-4537-9191-B7876B570C0B}" type="datetime1">
              <a:rPr lang="zh-CN" altLang="en-US" smtClean="0"/>
              <a:t>2026/9/25</a:t>
            </a:fld>
            <a:endParaRPr lang="zh-CN" altLang="en-US"/>
          </a:p>
        </p:txBody>
      </p:sp>
      <p:sp>
        <p:nvSpPr>
          <p:cNvPr id="5" name="页脚占位符 4">
            <a:extLst>
              <a:ext uri="{FF2B5EF4-FFF2-40B4-BE49-F238E27FC236}">
                <a16:creationId xmlns:a16="http://schemas.microsoft.com/office/drawing/2014/main" id="{1F7F7DE2-693C-EF10-2A62-B064639D4D1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A60321-EF88-4189-4AB9-54DB62481182}"/>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299769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123BA-D0E2-0FA9-44DC-68E5F117D8D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6D18231-5177-136D-A9E2-6AB9D68CE5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A04F69E-5E72-2E00-F5C0-3897C598AAD5}"/>
              </a:ext>
            </a:extLst>
          </p:cNvPr>
          <p:cNvSpPr>
            <a:spLocks noGrp="1"/>
          </p:cNvSpPr>
          <p:nvPr>
            <p:ph type="dt" sz="half" idx="10"/>
          </p:nvPr>
        </p:nvSpPr>
        <p:spPr/>
        <p:txBody>
          <a:bodyPr/>
          <a:lstStyle/>
          <a:p>
            <a:fld id="{92A24B4D-AA69-4366-ACC6-8C3AC0B5C470}" type="datetime1">
              <a:rPr lang="zh-CN" altLang="en-US" smtClean="0"/>
              <a:t>2026/9/25</a:t>
            </a:fld>
            <a:endParaRPr lang="zh-CN" altLang="en-US"/>
          </a:p>
        </p:txBody>
      </p:sp>
      <p:sp>
        <p:nvSpPr>
          <p:cNvPr id="5" name="页脚占位符 4">
            <a:extLst>
              <a:ext uri="{FF2B5EF4-FFF2-40B4-BE49-F238E27FC236}">
                <a16:creationId xmlns:a16="http://schemas.microsoft.com/office/drawing/2014/main" id="{F1BD466A-5470-B183-EB9F-274C57E5B2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FAAFFC2-3E35-58A7-1481-7862F99F7C06}"/>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1416435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9F94A6-3355-C144-ED10-B63F9F8824E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4233B6A-D580-16DD-0957-8B01C20D2D9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9A1969F-64D4-BCFF-8D12-A65550CAAA7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B459C14-8290-D9F8-BDFE-F7C7CB310099}"/>
              </a:ext>
            </a:extLst>
          </p:cNvPr>
          <p:cNvSpPr>
            <a:spLocks noGrp="1"/>
          </p:cNvSpPr>
          <p:nvPr>
            <p:ph type="dt" sz="half" idx="10"/>
          </p:nvPr>
        </p:nvSpPr>
        <p:spPr/>
        <p:txBody>
          <a:bodyPr/>
          <a:lstStyle/>
          <a:p>
            <a:fld id="{62A9D823-5F9E-4796-9C98-918DB1F28336}" type="datetime1">
              <a:rPr lang="zh-CN" altLang="en-US" smtClean="0"/>
              <a:t>2026/9/25</a:t>
            </a:fld>
            <a:endParaRPr lang="zh-CN" altLang="en-US"/>
          </a:p>
        </p:txBody>
      </p:sp>
      <p:sp>
        <p:nvSpPr>
          <p:cNvPr id="6" name="页脚占位符 5">
            <a:extLst>
              <a:ext uri="{FF2B5EF4-FFF2-40B4-BE49-F238E27FC236}">
                <a16:creationId xmlns:a16="http://schemas.microsoft.com/office/drawing/2014/main" id="{99CE66AC-5896-DF14-00A8-16E959DDBDA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45762C8-3B5C-32E4-CF4E-E366F99C9A07}"/>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473363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FAC002-9FD9-417A-6D55-32BD4314AA2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17641F7-0CB6-0A07-C6D6-597BA53A3A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FEEF817-C134-03D8-6623-757119C0968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0DA834A-C778-596F-00CB-56355D29BA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CB8C911-4752-4896-16B4-C6F2314DBE3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D08AE8B-BC37-117A-745F-240360256382}"/>
              </a:ext>
            </a:extLst>
          </p:cNvPr>
          <p:cNvSpPr>
            <a:spLocks noGrp="1"/>
          </p:cNvSpPr>
          <p:nvPr>
            <p:ph type="dt" sz="half" idx="10"/>
          </p:nvPr>
        </p:nvSpPr>
        <p:spPr/>
        <p:txBody>
          <a:bodyPr/>
          <a:lstStyle/>
          <a:p>
            <a:fld id="{ED72D9AC-DC9E-4710-ADF5-8AFC83E59D07}" type="datetime1">
              <a:rPr lang="zh-CN" altLang="en-US" smtClean="0"/>
              <a:t>2026/9/25</a:t>
            </a:fld>
            <a:endParaRPr lang="zh-CN" altLang="en-US"/>
          </a:p>
        </p:txBody>
      </p:sp>
      <p:sp>
        <p:nvSpPr>
          <p:cNvPr id="8" name="页脚占位符 7">
            <a:extLst>
              <a:ext uri="{FF2B5EF4-FFF2-40B4-BE49-F238E27FC236}">
                <a16:creationId xmlns:a16="http://schemas.microsoft.com/office/drawing/2014/main" id="{A94B964C-2399-F252-77ED-24EC9AD114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7C2470B-B91F-565D-C8CC-F35B77569B09}"/>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1553017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5C2D3-EEB0-D159-CED2-B01F423BFCA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737089A-B8C6-405B-65CB-C24D2716BF36}"/>
              </a:ext>
            </a:extLst>
          </p:cNvPr>
          <p:cNvSpPr>
            <a:spLocks noGrp="1"/>
          </p:cNvSpPr>
          <p:nvPr>
            <p:ph type="dt" sz="half" idx="10"/>
          </p:nvPr>
        </p:nvSpPr>
        <p:spPr/>
        <p:txBody>
          <a:bodyPr/>
          <a:lstStyle/>
          <a:p>
            <a:fld id="{F0FE612A-2A27-42C4-99AB-2897E9F3A247}" type="datetime1">
              <a:rPr lang="zh-CN" altLang="en-US" smtClean="0"/>
              <a:t>2026/9/25</a:t>
            </a:fld>
            <a:endParaRPr lang="zh-CN" altLang="en-US"/>
          </a:p>
        </p:txBody>
      </p:sp>
      <p:sp>
        <p:nvSpPr>
          <p:cNvPr id="4" name="页脚占位符 3">
            <a:extLst>
              <a:ext uri="{FF2B5EF4-FFF2-40B4-BE49-F238E27FC236}">
                <a16:creationId xmlns:a16="http://schemas.microsoft.com/office/drawing/2014/main" id="{6DADCA54-E33D-A905-BC5D-1F20EA40B62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7C5369B-8FD4-9168-BCE5-5411F10E2B28}"/>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227656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085F8DE-B595-0479-6073-51218BDEF9BD}"/>
              </a:ext>
            </a:extLst>
          </p:cNvPr>
          <p:cNvSpPr>
            <a:spLocks noGrp="1"/>
          </p:cNvSpPr>
          <p:nvPr>
            <p:ph type="dt" sz="half" idx="10"/>
          </p:nvPr>
        </p:nvSpPr>
        <p:spPr/>
        <p:txBody>
          <a:bodyPr/>
          <a:lstStyle/>
          <a:p>
            <a:fld id="{55CEEE09-1919-4DC3-AE71-7357719D0BA4}" type="datetime1">
              <a:rPr lang="zh-CN" altLang="en-US" smtClean="0"/>
              <a:t>2026/9/25</a:t>
            </a:fld>
            <a:endParaRPr lang="zh-CN" altLang="en-US"/>
          </a:p>
        </p:txBody>
      </p:sp>
      <p:sp>
        <p:nvSpPr>
          <p:cNvPr id="3" name="页脚占位符 2">
            <a:extLst>
              <a:ext uri="{FF2B5EF4-FFF2-40B4-BE49-F238E27FC236}">
                <a16:creationId xmlns:a16="http://schemas.microsoft.com/office/drawing/2014/main" id="{5D138544-E832-3A49-89B3-33B8E471C20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4E056DA-F6DB-9C69-C5AD-7A953647B63E}"/>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3699334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1FF30-AB3E-1FD3-DD15-AE863F847C3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BC82044-1C92-0739-174C-0A10167CEE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FCBC68D-370A-3B85-12B3-B0F8138163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0D26606-EB6F-B982-2701-BDD060F2ADD2}"/>
              </a:ext>
            </a:extLst>
          </p:cNvPr>
          <p:cNvSpPr>
            <a:spLocks noGrp="1"/>
          </p:cNvSpPr>
          <p:nvPr>
            <p:ph type="dt" sz="half" idx="10"/>
          </p:nvPr>
        </p:nvSpPr>
        <p:spPr/>
        <p:txBody>
          <a:bodyPr/>
          <a:lstStyle/>
          <a:p>
            <a:fld id="{451E4185-9067-4700-A170-153D06662C8D}" type="datetime1">
              <a:rPr lang="zh-CN" altLang="en-US" smtClean="0"/>
              <a:t>2026/9/25</a:t>
            </a:fld>
            <a:endParaRPr lang="zh-CN" altLang="en-US"/>
          </a:p>
        </p:txBody>
      </p:sp>
      <p:sp>
        <p:nvSpPr>
          <p:cNvPr id="6" name="页脚占位符 5">
            <a:extLst>
              <a:ext uri="{FF2B5EF4-FFF2-40B4-BE49-F238E27FC236}">
                <a16:creationId xmlns:a16="http://schemas.microsoft.com/office/drawing/2014/main" id="{92614BD4-E5C8-63F6-B136-BB0761E5E2F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07F081-FFE2-8139-9456-2DBF4B1FF2CE}"/>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1580644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5A2F2-1A02-AD7D-50E5-EE863DEDE62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DF8B0D2-B6F6-B1A1-AEA2-8646B457AB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596EDC7-8B66-B8B2-5454-17BF9F343B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5284BA5-55A1-050A-C50E-7394331DB292}"/>
              </a:ext>
            </a:extLst>
          </p:cNvPr>
          <p:cNvSpPr>
            <a:spLocks noGrp="1"/>
          </p:cNvSpPr>
          <p:nvPr>
            <p:ph type="dt" sz="half" idx="10"/>
          </p:nvPr>
        </p:nvSpPr>
        <p:spPr/>
        <p:txBody>
          <a:bodyPr/>
          <a:lstStyle/>
          <a:p>
            <a:fld id="{422174C1-8A66-4F68-AE98-A952AC573522}" type="datetime1">
              <a:rPr lang="zh-CN" altLang="en-US" smtClean="0"/>
              <a:t>2026/9/25</a:t>
            </a:fld>
            <a:endParaRPr lang="zh-CN" altLang="en-US"/>
          </a:p>
        </p:txBody>
      </p:sp>
      <p:sp>
        <p:nvSpPr>
          <p:cNvPr id="6" name="页脚占位符 5">
            <a:extLst>
              <a:ext uri="{FF2B5EF4-FFF2-40B4-BE49-F238E27FC236}">
                <a16:creationId xmlns:a16="http://schemas.microsoft.com/office/drawing/2014/main" id="{33D5AA20-94D4-6AED-8868-3A63AB20A2F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F859C06-4083-71FA-F731-14BB45A632C1}"/>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193146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8A5F90-E032-9355-8131-6C79F999F66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8C6A855-87FD-3FB9-067D-8053A59D806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E53B14B-0A9A-CE40-624A-66C211C31601}"/>
              </a:ext>
            </a:extLst>
          </p:cNvPr>
          <p:cNvSpPr>
            <a:spLocks noGrp="1"/>
          </p:cNvSpPr>
          <p:nvPr>
            <p:ph type="dt" sz="half" idx="10"/>
          </p:nvPr>
        </p:nvSpPr>
        <p:spPr/>
        <p:txBody>
          <a:bodyPr/>
          <a:lstStyle/>
          <a:p>
            <a:fld id="{F58B2B28-D1AF-4FA5-9458-FEAAC8CC371F}" type="datetime1">
              <a:rPr lang="zh-CN" altLang="en-US" smtClean="0"/>
              <a:t>2026/9/25</a:t>
            </a:fld>
            <a:endParaRPr lang="zh-CN" altLang="en-US"/>
          </a:p>
        </p:txBody>
      </p:sp>
      <p:sp>
        <p:nvSpPr>
          <p:cNvPr id="5" name="页脚占位符 4">
            <a:extLst>
              <a:ext uri="{FF2B5EF4-FFF2-40B4-BE49-F238E27FC236}">
                <a16:creationId xmlns:a16="http://schemas.microsoft.com/office/drawing/2014/main" id="{B4ADC3A6-F9F6-07A4-35C5-83B5E1E5433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A1E6F5-F184-15E8-104D-C7C587A9D104}"/>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909449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F589BAD-CEBC-0026-EDD1-F0916B193D3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E8CCBFB-0715-D944-6BB4-3E0B3F2DDE7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6270FC-70E0-12FE-515E-B8B38216E5FD}"/>
              </a:ext>
            </a:extLst>
          </p:cNvPr>
          <p:cNvSpPr>
            <a:spLocks noGrp="1"/>
          </p:cNvSpPr>
          <p:nvPr>
            <p:ph type="dt" sz="half" idx="10"/>
          </p:nvPr>
        </p:nvSpPr>
        <p:spPr/>
        <p:txBody>
          <a:bodyPr/>
          <a:lstStyle/>
          <a:p>
            <a:fld id="{911DDEE6-B001-40E8-8720-D3154629607F}" type="datetime1">
              <a:rPr lang="zh-CN" altLang="en-US" smtClean="0"/>
              <a:t>2026/9/25</a:t>
            </a:fld>
            <a:endParaRPr lang="zh-CN" altLang="en-US"/>
          </a:p>
        </p:txBody>
      </p:sp>
      <p:sp>
        <p:nvSpPr>
          <p:cNvPr id="5" name="页脚占位符 4">
            <a:extLst>
              <a:ext uri="{FF2B5EF4-FFF2-40B4-BE49-F238E27FC236}">
                <a16:creationId xmlns:a16="http://schemas.microsoft.com/office/drawing/2014/main" id="{E0BACE6E-025F-23F2-75AD-F8ECF941BD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A3B573E-344F-199E-93D8-2BFC1620DBD6}"/>
              </a:ext>
            </a:extLst>
          </p:cNvPr>
          <p:cNvSpPr>
            <a:spLocks noGrp="1"/>
          </p:cNvSpPr>
          <p:nvPr>
            <p:ph type="sldNum" sz="quarter" idx="12"/>
          </p:nvPr>
        </p:nvSpPr>
        <p:spPr/>
        <p:txBody>
          <a:body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4189893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C64C65-7AAE-88C4-CFAB-006CDE2915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350180E-2C18-0686-8ABC-2D7009C757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7F781A4-A53F-9F63-140A-1510E0E536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838483-EF45-47F8-855C-6EA45B1F1373}" type="datetime1">
              <a:rPr lang="zh-CN" altLang="en-US" smtClean="0"/>
              <a:t>2026/9/25</a:t>
            </a:fld>
            <a:endParaRPr lang="zh-CN" altLang="en-US"/>
          </a:p>
        </p:txBody>
      </p:sp>
      <p:sp>
        <p:nvSpPr>
          <p:cNvPr id="5" name="页脚占位符 4">
            <a:extLst>
              <a:ext uri="{FF2B5EF4-FFF2-40B4-BE49-F238E27FC236}">
                <a16:creationId xmlns:a16="http://schemas.microsoft.com/office/drawing/2014/main" id="{E9B8BBC3-5F68-B571-584A-328825A2BC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78E1BACD-9508-1BA2-FC9C-7E4BCFD067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D9B913-E621-4E85-A790-32644CC04F9B}" type="slidenum">
              <a:rPr lang="zh-CN" altLang="en-US" smtClean="0"/>
              <a:t>‹#›</a:t>
            </a:fld>
            <a:endParaRPr lang="zh-CN" altLang="en-US"/>
          </a:p>
        </p:txBody>
      </p:sp>
    </p:spTree>
    <p:extLst>
      <p:ext uri="{BB962C8B-B14F-4D97-AF65-F5344CB8AC3E}">
        <p14:creationId xmlns:p14="http://schemas.microsoft.com/office/powerpoint/2010/main" val="3301057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16FF73C-48C8-2563-8A62-BBB139985D9E}"/>
              </a:ext>
            </a:extLst>
          </p:cNvPr>
          <p:cNvSpPr>
            <a:spLocks noGrp="1"/>
          </p:cNvSpPr>
          <p:nvPr>
            <p:ph type="sldNum" sz="quarter" idx="12"/>
          </p:nvPr>
        </p:nvSpPr>
        <p:spPr/>
        <p:txBody>
          <a:bodyPr/>
          <a:lstStyle/>
          <a:p>
            <a:fld id="{05D9B913-E621-4E85-A790-32644CC04F9B}" type="slidenum">
              <a:rPr lang="zh-CN" altLang="en-US" smtClean="0"/>
              <a:t>1</a:t>
            </a:fld>
            <a:endParaRPr lang="zh-CN" altLang="en-US"/>
          </a:p>
        </p:txBody>
      </p:sp>
      <p:sp>
        <p:nvSpPr>
          <p:cNvPr id="5" name="文本框 4">
            <a:extLst>
              <a:ext uri="{FF2B5EF4-FFF2-40B4-BE49-F238E27FC236}">
                <a16:creationId xmlns:a16="http://schemas.microsoft.com/office/drawing/2014/main" id="{DBB4039D-A2AF-94F4-135D-3431C996E29D}"/>
              </a:ext>
            </a:extLst>
          </p:cNvPr>
          <p:cNvSpPr txBox="1"/>
          <p:nvPr/>
        </p:nvSpPr>
        <p:spPr>
          <a:xfrm>
            <a:off x="663259" y="421285"/>
            <a:ext cx="10865475" cy="584775"/>
          </a:xfrm>
          <a:prstGeom prst="rect">
            <a:avLst/>
          </a:prstGeom>
          <a:noFill/>
        </p:spPr>
        <p:txBody>
          <a:bodyPr wrap="none" rtlCol="0">
            <a:spAutoFit/>
          </a:bodyPr>
          <a:lstStyle/>
          <a:p>
            <a:r>
              <a:rPr lang="en-US" altLang="zh-CN" sz="3200" b="1" dirty="0">
                <a:latin typeface="Calibri" panose="020F0502020204030204" pitchFamily="34" charset="0"/>
                <a:ea typeface="Calibri" panose="020F0502020204030204" pitchFamily="34" charset="0"/>
                <a:cs typeface="Calibri" panose="020F0502020204030204" pitchFamily="34" charset="0"/>
              </a:rPr>
              <a:t>An IoT System for Real-time Human Activity Recognition (HAR)</a:t>
            </a:r>
            <a:endParaRPr lang="zh-CN" altLang="en-US" sz="3200" b="1" dirty="0">
              <a:latin typeface="Calibri" panose="020F0502020204030204" pitchFamily="34" charset="0"/>
              <a:cs typeface="Calibri" panose="020F0502020204030204" pitchFamily="34" charset="0"/>
            </a:endParaRPr>
          </a:p>
        </p:txBody>
      </p:sp>
      <p:sp>
        <p:nvSpPr>
          <p:cNvPr id="7" name="文本框 6">
            <a:extLst>
              <a:ext uri="{FF2B5EF4-FFF2-40B4-BE49-F238E27FC236}">
                <a16:creationId xmlns:a16="http://schemas.microsoft.com/office/drawing/2014/main" id="{143B2083-8D23-8B32-1EDC-AC1CA4A948D4}"/>
              </a:ext>
            </a:extLst>
          </p:cNvPr>
          <p:cNvSpPr txBox="1"/>
          <p:nvPr/>
        </p:nvSpPr>
        <p:spPr>
          <a:xfrm>
            <a:off x="663259" y="4893991"/>
            <a:ext cx="2573140" cy="923330"/>
          </a:xfrm>
          <a:prstGeom prst="rect">
            <a:avLst/>
          </a:prstGeom>
          <a:noFill/>
        </p:spPr>
        <p:txBody>
          <a:bodyPr wrap="non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Juntao Hu &amp; Tianchen Liu</a:t>
            </a:r>
          </a:p>
          <a:p>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25/9/2026</a:t>
            </a:r>
            <a:endParaRPr lang="zh-CN" altLang="en-US" dirty="0">
              <a:latin typeface="Calibri" panose="020F0502020204030204" pitchFamily="34" charset="0"/>
              <a:cs typeface="Calibri" panose="020F0502020204030204" pitchFamily="34" charset="0"/>
            </a:endParaRPr>
          </a:p>
        </p:txBody>
      </p:sp>
      <p:pic>
        <p:nvPicPr>
          <p:cNvPr id="11" name="图形 10" descr="齿轮 纯色填充">
            <a:extLst>
              <a:ext uri="{FF2B5EF4-FFF2-40B4-BE49-F238E27FC236}">
                <a16:creationId xmlns:a16="http://schemas.microsoft.com/office/drawing/2014/main" id="{13DAAA1D-AA69-D042-BDE5-6BE8293B72A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70845" y="2358338"/>
            <a:ext cx="675060" cy="675060"/>
          </a:xfrm>
          <a:prstGeom prst="rect">
            <a:avLst/>
          </a:prstGeom>
        </p:spPr>
      </p:pic>
      <p:pic>
        <p:nvPicPr>
          <p:cNvPr id="13" name="图形 12" descr="困惑的人 纯色填充">
            <a:extLst>
              <a:ext uri="{FF2B5EF4-FFF2-40B4-BE49-F238E27FC236}">
                <a16:creationId xmlns:a16="http://schemas.microsoft.com/office/drawing/2014/main" id="{6D25AA31-937A-F13F-119B-B2A497330B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6421" y="2971800"/>
            <a:ext cx="914400" cy="914400"/>
          </a:xfrm>
          <a:prstGeom prst="rect">
            <a:avLst/>
          </a:prstGeom>
        </p:spPr>
      </p:pic>
      <p:pic>
        <p:nvPicPr>
          <p:cNvPr id="15" name="图形 14" descr="智能手机 纯色填充">
            <a:extLst>
              <a:ext uri="{FF2B5EF4-FFF2-40B4-BE49-F238E27FC236}">
                <a16:creationId xmlns:a16="http://schemas.microsoft.com/office/drawing/2014/main" id="{26BDE5B9-E2E5-D672-801F-158EFF4C11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799" y="2971800"/>
            <a:ext cx="914400" cy="914400"/>
          </a:xfrm>
          <a:prstGeom prst="rect">
            <a:avLst/>
          </a:prstGeom>
        </p:spPr>
      </p:pic>
      <p:pic>
        <p:nvPicPr>
          <p:cNvPr id="19" name="图形 18" descr="计算机 纯色填充">
            <a:extLst>
              <a:ext uri="{FF2B5EF4-FFF2-40B4-BE49-F238E27FC236}">
                <a16:creationId xmlns:a16="http://schemas.microsoft.com/office/drawing/2014/main" id="{19AF5C11-85F2-5D49-9513-DDD6D304DF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51177" y="2971800"/>
            <a:ext cx="914400" cy="914400"/>
          </a:xfrm>
          <a:prstGeom prst="rect">
            <a:avLst/>
          </a:prstGeom>
        </p:spPr>
      </p:pic>
      <p:cxnSp>
        <p:nvCxnSpPr>
          <p:cNvPr id="21" name="直接连接符 20">
            <a:extLst>
              <a:ext uri="{FF2B5EF4-FFF2-40B4-BE49-F238E27FC236}">
                <a16:creationId xmlns:a16="http://schemas.microsoft.com/office/drawing/2014/main" id="{33EA1E92-88B7-8585-4EC9-2E5BE78941F3}"/>
              </a:ext>
            </a:extLst>
          </p:cNvPr>
          <p:cNvCxnSpPr>
            <a:cxnSpLocks/>
            <a:endCxn id="15" idx="0"/>
          </p:cNvCxnSpPr>
          <p:nvPr/>
        </p:nvCxnSpPr>
        <p:spPr>
          <a:xfrm>
            <a:off x="3236402" y="2442767"/>
            <a:ext cx="2859597" cy="529033"/>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直接连接符 23">
            <a:extLst>
              <a:ext uri="{FF2B5EF4-FFF2-40B4-BE49-F238E27FC236}">
                <a16:creationId xmlns:a16="http://schemas.microsoft.com/office/drawing/2014/main" id="{256AA1DF-164E-1E40-F359-1106D0B4B0BA}"/>
              </a:ext>
            </a:extLst>
          </p:cNvPr>
          <p:cNvCxnSpPr>
            <a:cxnSpLocks/>
            <a:stCxn id="15" idx="2"/>
          </p:cNvCxnSpPr>
          <p:nvPr/>
        </p:nvCxnSpPr>
        <p:spPr>
          <a:xfrm flipH="1">
            <a:off x="3074593" y="3886200"/>
            <a:ext cx="3021406" cy="268490"/>
          </a:xfrm>
          <a:prstGeom prst="line">
            <a:avLst/>
          </a:prstGeom>
        </p:spPr>
        <p:style>
          <a:lnRef idx="2">
            <a:schemeClr val="accent1"/>
          </a:lnRef>
          <a:fillRef idx="0">
            <a:schemeClr val="accent1"/>
          </a:fillRef>
          <a:effectRef idx="1">
            <a:schemeClr val="accent1"/>
          </a:effectRef>
          <a:fontRef idx="minor">
            <a:schemeClr val="tx1"/>
          </a:fontRef>
        </p:style>
      </p:cxnSp>
      <p:pic>
        <p:nvPicPr>
          <p:cNvPr id="27" name="图形 26" descr="上一步 纯色填充">
            <a:extLst>
              <a:ext uri="{FF2B5EF4-FFF2-40B4-BE49-F238E27FC236}">
                <a16:creationId xmlns:a16="http://schemas.microsoft.com/office/drawing/2014/main" id="{21457CBA-D029-9401-9B31-08DFEA586F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9500000">
            <a:off x="7263261" y="2499285"/>
            <a:ext cx="914400" cy="914400"/>
          </a:xfrm>
          <a:prstGeom prst="rect">
            <a:avLst/>
          </a:prstGeom>
        </p:spPr>
      </p:pic>
      <p:pic>
        <p:nvPicPr>
          <p:cNvPr id="31" name="图形 30" descr="带齿轮的头部 纯色填充">
            <a:extLst>
              <a:ext uri="{FF2B5EF4-FFF2-40B4-BE49-F238E27FC236}">
                <a16:creationId xmlns:a16="http://schemas.microsoft.com/office/drawing/2014/main" id="{15D37850-A54F-1C9A-2DEE-734A949061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61753" y="3336985"/>
            <a:ext cx="268491" cy="268491"/>
          </a:xfrm>
          <a:prstGeom prst="rect">
            <a:avLst/>
          </a:prstGeom>
        </p:spPr>
      </p:pic>
      <p:pic>
        <p:nvPicPr>
          <p:cNvPr id="34" name="图形 33" descr="上一步 纯色填充">
            <a:extLst>
              <a:ext uri="{FF2B5EF4-FFF2-40B4-BE49-F238E27FC236}">
                <a16:creationId xmlns:a16="http://schemas.microsoft.com/office/drawing/2014/main" id="{EECF691E-79E8-289A-E038-366E4B9EC48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8700000">
            <a:off x="7294986" y="3697490"/>
            <a:ext cx="914400" cy="914400"/>
          </a:xfrm>
          <a:prstGeom prst="rect">
            <a:avLst/>
          </a:prstGeom>
        </p:spPr>
      </p:pic>
      <p:pic>
        <p:nvPicPr>
          <p:cNvPr id="36" name="图形 35" descr="文档 纯色填充">
            <a:extLst>
              <a:ext uri="{FF2B5EF4-FFF2-40B4-BE49-F238E27FC236}">
                <a16:creationId xmlns:a16="http://schemas.microsoft.com/office/drawing/2014/main" id="{3ADA329D-A729-4023-A517-8C3F94F169E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34737" y="4459094"/>
            <a:ext cx="434897" cy="434897"/>
          </a:xfrm>
          <a:prstGeom prst="rect">
            <a:avLst/>
          </a:prstGeom>
        </p:spPr>
      </p:pic>
      <p:sp>
        <p:nvSpPr>
          <p:cNvPr id="37" name="文本框 36">
            <a:extLst>
              <a:ext uri="{FF2B5EF4-FFF2-40B4-BE49-F238E27FC236}">
                <a16:creationId xmlns:a16="http://schemas.microsoft.com/office/drawing/2014/main" id="{62511BC4-716C-AD00-44E7-11627DC7D91F}"/>
              </a:ext>
            </a:extLst>
          </p:cNvPr>
          <p:cNvSpPr txBox="1"/>
          <p:nvPr/>
        </p:nvSpPr>
        <p:spPr>
          <a:xfrm>
            <a:off x="5411579" y="3970661"/>
            <a:ext cx="1368837" cy="923330"/>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“A person is stretching both arms”</a:t>
            </a:r>
            <a:endParaRPr lang="zh-CN" altLang="en-US" dirty="0">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788DB3E1-28FA-D520-4DE3-E46B1A0C8252}"/>
              </a:ext>
            </a:extLst>
          </p:cNvPr>
          <p:cNvSpPr txBox="1"/>
          <p:nvPr/>
        </p:nvSpPr>
        <p:spPr>
          <a:xfrm>
            <a:off x="7108048" y="1506954"/>
            <a:ext cx="1368837" cy="1200329"/>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Yes:</a:t>
            </a:r>
          </a:p>
          <a:p>
            <a:r>
              <a:rPr lang="en-US" altLang="zh-CN" dirty="0">
                <a:latin typeface="Calibri" panose="020F0502020204030204" pitchFamily="34" charset="0"/>
                <a:ea typeface="Calibri" panose="020F0502020204030204" pitchFamily="34" charset="0"/>
                <a:cs typeface="Calibri" panose="020F0502020204030204" pitchFamily="34" charset="0"/>
              </a:rPr>
              <a:t>“A person is stretching both arms”</a:t>
            </a:r>
            <a:endParaRPr lang="zh-C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98123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197EA-AC41-B178-402D-99DB47B90895}"/>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A44C98C-D5F7-BE13-C2EB-5685B6A5208A}"/>
              </a:ext>
            </a:extLst>
          </p:cNvPr>
          <p:cNvSpPr>
            <a:spLocks noGrp="1"/>
          </p:cNvSpPr>
          <p:nvPr>
            <p:ph type="sldNum" sz="quarter" idx="12"/>
          </p:nvPr>
        </p:nvSpPr>
        <p:spPr/>
        <p:txBody>
          <a:bodyPr/>
          <a:lstStyle/>
          <a:p>
            <a:fld id="{05D9B913-E621-4E85-A790-32644CC04F9B}" type="slidenum">
              <a:rPr lang="zh-CN" altLang="en-US" smtClean="0"/>
              <a:t>2</a:t>
            </a:fld>
            <a:endParaRPr lang="zh-CN" altLang="en-US"/>
          </a:p>
        </p:txBody>
      </p:sp>
      <p:sp>
        <p:nvSpPr>
          <p:cNvPr id="5" name="文本框 4">
            <a:extLst>
              <a:ext uri="{FF2B5EF4-FFF2-40B4-BE49-F238E27FC236}">
                <a16:creationId xmlns:a16="http://schemas.microsoft.com/office/drawing/2014/main" id="{D2B29012-0443-5005-FE73-87FBE0F1777C}"/>
              </a:ext>
            </a:extLst>
          </p:cNvPr>
          <p:cNvSpPr txBox="1"/>
          <p:nvPr/>
        </p:nvSpPr>
        <p:spPr>
          <a:xfrm>
            <a:off x="663259" y="421285"/>
            <a:ext cx="2552878" cy="707886"/>
          </a:xfrm>
          <a:prstGeom prst="rect">
            <a:avLst/>
          </a:prstGeom>
          <a:noFill/>
        </p:spPr>
        <p:txBody>
          <a:bodyPr wrap="none" rtlCol="0">
            <a:spAutoFit/>
          </a:bodyPr>
          <a:lstStyle/>
          <a:p>
            <a:r>
              <a:rPr lang="en-US" altLang="zh-CN" sz="4000" b="1" dirty="0">
                <a:latin typeface="Calibri" panose="020F0502020204030204" pitchFamily="34" charset="0"/>
                <a:ea typeface="Calibri" panose="020F0502020204030204" pitchFamily="34" charset="0"/>
                <a:cs typeface="Calibri" panose="020F0502020204030204" pitchFamily="34" charset="0"/>
              </a:rPr>
              <a:t>Motivation</a:t>
            </a:r>
            <a:endParaRPr lang="zh-CN" altLang="en-US" sz="4000" b="1" dirty="0">
              <a:latin typeface="Calibri" panose="020F0502020204030204" pitchFamily="34" charset="0"/>
              <a:cs typeface="Calibri" panose="020F0502020204030204" pitchFamily="34" charset="0"/>
            </a:endParaRPr>
          </a:p>
        </p:txBody>
      </p:sp>
      <p:sp>
        <p:nvSpPr>
          <p:cNvPr id="2" name="文本框 1">
            <a:extLst>
              <a:ext uri="{FF2B5EF4-FFF2-40B4-BE49-F238E27FC236}">
                <a16:creationId xmlns:a16="http://schemas.microsoft.com/office/drawing/2014/main" id="{9BD39E1E-4152-7229-50BF-B7AB9A88173B}"/>
              </a:ext>
            </a:extLst>
          </p:cNvPr>
          <p:cNvSpPr txBox="1"/>
          <p:nvPr/>
        </p:nvSpPr>
        <p:spPr>
          <a:xfrm>
            <a:off x="663259" y="2151727"/>
            <a:ext cx="9315563" cy="2554545"/>
          </a:xfrm>
          <a:prstGeom prst="rect">
            <a:avLst/>
          </a:prstGeom>
          <a:noFill/>
        </p:spPr>
        <p:txBody>
          <a:bodyPr wrap="none" rtlCol="0">
            <a:spAutoFit/>
          </a:bodyPr>
          <a:lstStyle/>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Interactive system </a:t>
            </a:r>
            <a:r>
              <a:rPr lang="en-US" altLang="zh-CN" sz="32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altLang="zh-CN" sz="3200" dirty="0">
                <a:latin typeface="Calibri" panose="020F0502020204030204" pitchFamily="34" charset="0"/>
                <a:ea typeface="Calibri" panose="020F0502020204030204" pitchFamily="34" charset="0"/>
                <a:cs typeface="Calibri" panose="020F0502020204030204" pitchFamily="34" charset="0"/>
              </a:rPr>
              <a:t>action in progress </a:t>
            </a:r>
            <a:r>
              <a:rPr lang="en-US" altLang="zh-CN" sz="3200" b="1" dirty="0">
                <a:latin typeface="Calibri" panose="020F0502020204030204" pitchFamily="34" charset="0"/>
                <a:ea typeface="Calibri" panose="020F0502020204030204" pitchFamily="34" charset="0"/>
                <a:cs typeface="Calibri" panose="020F0502020204030204" pitchFamily="34" charset="0"/>
              </a:rPr>
              <a:t>(real-time)</a:t>
            </a:r>
          </a:p>
          <a:p>
            <a:pPr marL="514350" indent="-514350">
              <a:buAutoNum type="arabicPeriod"/>
            </a:pPr>
            <a:endParaRPr lang="en-US" altLang="zh-CN" sz="3200" dirty="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Too coarse class label </a:t>
            </a:r>
            <a:r>
              <a:rPr lang="en-US" altLang="zh-CN" sz="3200" b="1" dirty="0">
                <a:latin typeface="Calibri" panose="020F0502020204030204" pitchFamily="34" charset="0"/>
                <a:ea typeface="Calibri" panose="020F0502020204030204" pitchFamily="34" charset="0"/>
                <a:cs typeface="Calibri" panose="020F0502020204030204" pitchFamily="34" charset="0"/>
              </a:rPr>
              <a:t>(accurate)</a:t>
            </a:r>
          </a:p>
          <a:p>
            <a:pPr marL="514350" indent="-514350">
              <a:buAutoNum type="arabicPeriod"/>
            </a:pPr>
            <a:endParaRPr lang="en-US" altLang="zh-CN" sz="3200" dirty="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 Communication cost </a:t>
            </a:r>
            <a:r>
              <a:rPr lang="en-US" altLang="zh-CN" sz="3200" b="1" dirty="0">
                <a:latin typeface="Calibri" panose="020F0502020204030204" pitchFamily="34" charset="0"/>
                <a:ea typeface="Calibri" panose="020F0502020204030204" pitchFamily="34" charset="0"/>
                <a:cs typeface="Calibri" panose="020F0502020204030204" pitchFamily="34" charset="0"/>
              </a:rPr>
              <a:t>(trade off)</a:t>
            </a:r>
            <a:endParaRPr lang="zh-CN" altLang="en-US" sz="3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9639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ED957-1259-8957-B733-A031BC4A9F11}"/>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70A7BE1-916D-6A32-4D2E-BDF03EC3CA3A}"/>
              </a:ext>
            </a:extLst>
          </p:cNvPr>
          <p:cNvSpPr>
            <a:spLocks noGrp="1"/>
          </p:cNvSpPr>
          <p:nvPr>
            <p:ph type="sldNum" sz="quarter" idx="12"/>
          </p:nvPr>
        </p:nvSpPr>
        <p:spPr/>
        <p:txBody>
          <a:bodyPr/>
          <a:lstStyle/>
          <a:p>
            <a:fld id="{05D9B913-E621-4E85-A790-32644CC04F9B}" type="slidenum">
              <a:rPr lang="zh-CN" altLang="en-US" smtClean="0"/>
              <a:t>3</a:t>
            </a:fld>
            <a:endParaRPr lang="zh-CN" altLang="en-US"/>
          </a:p>
        </p:txBody>
      </p:sp>
      <p:sp>
        <p:nvSpPr>
          <p:cNvPr id="5" name="文本框 4">
            <a:extLst>
              <a:ext uri="{FF2B5EF4-FFF2-40B4-BE49-F238E27FC236}">
                <a16:creationId xmlns:a16="http://schemas.microsoft.com/office/drawing/2014/main" id="{675AD224-B288-13FC-A391-EF2B8C6C02BB}"/>
              </a:ext>
            </a:extLst>
          </p:cNvPr>
          <p:cNvSpPr txBox="1"/>
          <p:nvPr/>
        </p:nvSpPr>
        <p:spPr>
          <a:xfrm>
            <a:off x="663259" y="421285"/>
            <a:ext cx="3553986" cy="707886"/>
          </a:xfrm>
          <a:prstGeom prst="rect">
            <a:avLst/>
          </a:prstGeom>
          <a:noFill/>
        </p:spPr>
        <p:txBody>
          <a:bodyPr wrap="none" rtlCol="0">
            <a:spAutoFit/>
          </a:bodyPr>
          <a:lstStyle/>
          <a:p>
            <a:r>
              <a:rPr lang="en-US" altLang="zh-CN" sz="4000" b="1" dirty="0">
                <a:latin typeface="Calibri" panose="020F0502020204030204" pitchFamily="34" charset="0"/>
                <a:ea typeface="Calibri" panose="020F0502020204030204" pitchFamily="34" charset="0"/>
                <a:cs typeface="Calibri" panose="020F0502020204030204" pitchFamily="34" charset="0"/>
              </a:rPr>
              <a:t>Literature study</a:t>
            </a:r>
            <a:endParaRPr lang="zh-CN" altLang="en-US" sz="4000" b="1" dirty="0">
              <a:latin typeface="Calibri" panose="020F0502020204030204" pitchFamily="34" charset="0"/>
              <a:cs typeface="Calibri" panose="020F0502020204030204" pitchFamily="34" charset="0"/>
            </a:endParaRPr>
          </a:p>
        </p:txBody>
      </p:sp>
      <p:sp>
        <p:nvSpPr>
          <p:cNvPr id="2" name="文本框 1">
            <a:extLst>
              <a:ext uri="{FF2B5EF4-FFF2-40B4-BE49-F238E27FC236}">
                <a16:creationId xmlns:a16="http://schemas.microsoft.com/office/drawing/2014/main" id="{B0F932A7-08EB-A4D8-130C-977734A177F1}"/>
              </a:ext>
            </a:extLst>
          </p:cNvPr>
          <p:cNvSpPr txBox="1"/>
          <p:nvPr/>
        </p:nvSpPr>
        <p:spPr>
          <a:xfrm>
            <a:off x="663259" y="1694527"/>
            <a:ext cx="5828981" cy="3539430"/>
          </a:xfrm>
          <a:prstGeom prst="rect">
            <a:avLst/>
          </a:prstGeom>
          <a:noFill/>
        </p:spPr>
        <p:txBody>
          <a:bodyPr wrap="square" rtlCol="0">
            <a:spAutoFit/>
          </a:bodyPr>
          <a:lstStyle/>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HAR</a:t>
            </a:r>
          </a:p>
          <a:p>
            <a:pPr marL="514350" indent="-514350">
              <a:buAutoNum type="arabicPeriod"/>
            </a:pPr>
            <a:endParaRPr lang="en-US" altLang="zh-CN" sz="3200" dirty="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Vision-Language Models (VLM)</a:t>
            </a:r>
          </a:p>
          <a:p>
            <a:pPr marL="514350" indent="-514350">
              <a:buAutoNum type="arabicPeriod"/>
            </a:pPr>
            <a:endParaRPr lang="en-US" altLang="zh-CN" sz="3200" dirty="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Client-Server Collaboration</a:t>
            </a:r>
          </a:p>
          <a:p>
            <a:pPr marL="514350" indent="-514350">
              <a:buAutoNum type="arabicPeriod"/>
            </a:pPr>
            <a:endParaRPr lang="en-US" altLang="zh-CN" sz="3200" dirty="0">
              <a:latin typeface="Calibri" panose="020F0502020204030204" pitchFamily="34" charset="0"/>
              <a:cs typeface="Calibri" panose="020F0502020204030204" pitchFamily="34" charset="0"/>
            </a:endParaRPr>
          </a:p>
          <a:p>
            <a:pPr marL="514350" indent="-514350">
              <a:buAutoNum type="arabicPeriod"/>
            </a:pPr>
            <a:r>
              <a:rPr lang="en-US" altLang="zh-CN" sz="3200" dirty="0">
                <a:latin typeface="Calibri" panose="020F0502020204030204" pitchFamily="34" charset="0"/>
                <a:cs typeface="Calibri" panose="020F0502020204030204" pitchFamily="34" charset="0"/>
              </a:rPr>
              <a:t>Communication</a:t>
            </a:r>
            <a:endParaRPr lang="zh-CN" altLang="en-US" sz="3200" dirty="0">
              <a:latin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62D47DE6-E18C-4F09-A8CB-5C216AA7B653}"/>
              </a:ext>
            </a:extLst>
          </p:cNvPr>
          <p:cNvSpPr txBox="1"/>
          <p:nvPr/>
        </p:nvSpPr>
        <p:spPr>
          <a:xfrm>
            <a:off x="6701245" y="1694527"/>
            <a:ext cx="5274311" cy="3539430"/>
          </a:xfrm>
          <a:prstGeom prst="rect">
            <a:avLst/>
          </a:prstGeom>
          <a:noFill/>
        </p:spPr>
        <p:txBody>
          <a:bodyPr wrap="square" rtlCol="0">
            <a:spAutoFit/>
          </a:bodyPr>
          <a:lstStyle/>
          <a:p>
            <a:r>
              <a:rPr lang="en-US" altLang="zh-CN" sz="3200" dirty="0">
                <a:latin typeface="Calibri" panose="020F0502020204030204" pitchFamily="34" charset="0"/>
                <a:ea typeface="Calibri" panose="020F0502020204030204" pitchFamily="34" charset="0"/>
                <a:cs typeface="Calibri" panose="020F0502020204030204" pitchFamily="34" charset="0"/>
              </a:rPr>
              <a:t>Sensors; Open-vocabulary</a:t>
            </a:r>
          </a:p>
          <a:p>
            <a:pPr marL="514350" indent="-514350">
              <a:buAutoNum type="arabicPeriod"/>
            </a:pPr>
            <a:endParaRPr lang="en-US" altLang="zh-CN" sz="3200" dirty="0">
              <a:latin typeface="Calibri" panose="020F0502020204030204" pitchFamily="34" charset="0"/>
              <a:ea typeface="Calibri" panose="020F0502020204030204" pitchFamily="34" charset="0"/>
              <a:cs typeface="Calibri" panose="020F0502020204030204" pitchFamily="34" charset="0"/>
            </a:endParaRPr>
          </a:p>
          <a:p>
            <a:r>
              <a:rPr lang="en-US" altLang="zh-CN" sz="3200" dirty="0">
                <a:latin typeface="Calibri" panose="020F0502020204030204" pitchFamily="34" charset="0"/>
                <a:ea typeface="Calibri" panose="020F0502020204030204" pitchFamily="34" charset="0"/>
                <a:cs typeface="Calibri" panose="020F0502020204030204" pitchFamily="34" charset="0"/>
              </a:rPr>
              <a:t>CLIP; Generative; Lightweight</a:t>
            </a:r>
          </a:p>
          <a:p>
            <a:endParaRPr lang="en-US" altLang="zh-CN" sz="3200" dirty="0">
              <a:latin typeface="Calibri" panose="020F0502020204030204" pitchFamily="34" charset="0"/>
              <a:ea typeface="Calibri" panose="020F0502020204030204" pitchFamily="34" charset="0"/>
              <a:cs typeface="Calibri" panose="020F0502020204030204" pitchFamily="34" charset="0"/>
            </a:endParaRPr>
          </a:p>
          <a:p>
            <a:r>
              <a:rPr lang="en-US" altLang="zh-CN" sz="3200" dirty="0">
                <a:latin typeface="Calibri" panose="020F0502020204030204" pitchFamily="34" charset="0"/>
                <a:ea typeface="Calibri" panose="020F0502020204030204" pitchFamily="34" charset="0"/>
                <a:cs typeface="Calibri" panose="020F0502020204030204" pitchFamily="34" charset="0"/>
              </a:rPr>
              <a:t>Split by layer/token; Send pics</a:t>
            </a:r>
          </a:p>
          <a:p>
            <a:pPr marL="514350" indent="-514350">
              <a:buAutoNum type="arabicPeriod"/>
            </a:pPr>
            <a:endParaRPr lang="en-US" altLang="zh-CN" sz="3200" dirty="0">
              <a:latin typeface="Calibri" panose="020F0502020204030204" pitchFamily="34" charset="0"/>
              <a:cs typeface="Calibri" panose="020F0502020204030204" pitchFamily="34" charset="0"/>
            </a:endParaRPr>
          </a:p>
          <a:p>
            <a:r>
              <a:rPr lang="en-US" altLang="zh-CN" sz="3200" dirty="0">
                <a:latin typeface="Calibri" panose="020F0502020204030204" pitchFamily="34" charset="0"/>
                <a:cs typeface="Calibri" panose="020F0502020204030204" pitchFamily="34" charset="0"/>
              </a:rPr>
              <a:t>PF, </a:t>
            </a:r>
            <a:r>
              <a:rPr lang="en-US" altLang="zh-CN" sz="3200" dirty="0" err="1">
                <a:latin typeface="Calibri" panose="020F0502020204030204" pitchFamily="34" charset="0"/>
                <a:cs typeface="Calibri" panose="020F0502020204030204" pitchFamily="34" charset="0"/>
              </a:rPr>
              <a:t>L4S</a:t>
            </a:r>
            <a:r>
              <a:rPr lang="en-US" altLang="zh-CN" sz="3200" dirty="0">
                <a:latin typeface="Calibri" panose="020F0502020204030204" pitchFamily="34" charset="0"/>
                <a:cs typeface="Calibri" panose="020F0502020204030204" pitchFamily="34" charset="0"/>
              </a:rPr>
              <a:t>, not computing-aware; </a:t>
            </a:r>
            <a:endParaRPr lang="zh-CN" altLang="en-US"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61092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68F01-4B07-F1A2-E9A6-CF4C6E440650}"/>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ADEA7F4-CA37-5CB8-FAC4-96019C98C3D8}"/>
              </a:ext>
            </a:extLst>
          </p:cNvPr>
          <p:cNvSpPr>
            <a:spLocks noGrp="1"/>
          </p:cNvSpPr>
          <p:nvPr>
            <p:ph type="sldNum" sz="quarter" idx="12"/>
          </p:nvPr>
        </p:nvSpPr>
        <p:spPr/>
        <p:txBody>
          <a:bodyPr/>
          <a:lstStyle/>
          <a:p>
            <a:fld id="{05D9B913-E621-4E85-A790-32644CC04F9B}" type="slidenum">
              <a:rPr lang="zh-CN" altLang="en-US" smtClean="0"/>
              <a:t>4</a:t>
            </a:fld>
            <a:endParaRPr lang="zh-CN" altLang="en-US"/>
          </a:p>
        </p:txBody>
      </p:sp>
      <p:sp>
        <p:nvSpPr>
          <p:cNvPr id="5" name="文本框 4">
            <a:extLst>
              <a:ext uri="{FF2B5EF4-FFF2-40B4-BE49-F238E27FC236}">
                <a16:creationId xmlns:a16="http://schemas.microsoft.com/office/drawing/2014/main" id="{B6585E26-4BD5-2B8D-FFA9-73460081F7B9}"/>
              </a:ext>
            </a:extLst>
          </p:cNvPr>
          <p:cNvSpPr txBox="1"/>
          <p:nvPr/>
        </p:nvSpPr>
        <p:spPr>
          <a:xfrm>
            <a:off x="663259" y="421285"/>
            <a:ext cx="7399526" cy="707886"/>
          </a:xfrm>
          <a:prstGeom prst="rect">
            <a:avLst/>
          </a:prstGeom>
          <a:noFill/>
        </p:spPr>
        <p:txBody>
          <a:bodyPr wrap="none" rtlCol="0">
            <a:spAutoFit/>
          </a:bodyPr>
          <a:lstStyle/>
          <a:p>
            <a:r>
              <a:rPr lang="en-US" altLang="zh-CN" sz="4000" b="1" dirty="0">
                <a:latin typeface="Calibri" panose="020F0502020204030204" pitchFamily="34" charset="0"/>
                <a:ea typeface="Calibri" panose="020F0502020204030204" pitchFamily="34" charset="0"/>
                <a:cs typeface="Calibri" panose="020F0502020204030204" pitchFamily="34" charset="0"/>
              </a:rPr>
              <a:t>Technical approach (client/server)</a:t>
            </a:r>
            <a:endParaRPr lang="zh-CN" altLang="en-US" sz="4000" b="1" dirty="0">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E2E15B99-7CB7-48BF-9987-5CAE46B0BC34}"/>
              </a:ext>
            </a:extLst>
          </p:cNvPr>
          <p:cNvSpPr txBox="1"/>
          <p:nvPr/>
        </p:nvSpPr>
        <p:spPr>
          <a:xfrm>
            <a:off x="2333360" y="1580922"/>
            <a:ext cx="8411277" cy="523220"/>
          </a:xfrm>
          <a:prstGeom prst="rect">
            <a:avLst/>
          </a:prstGeom>
          <a:noFill/>
        </p:spPr>
        <p:txBody>
          <a:bodyPr wrap="none" rtlCol="0">
            <a:spAutoFit/>
          </a:bodyPr>
          <a:lstStyle/>
          <a:p>
            <a:r>
              <a:rPr lang="en-US" altLang="zh-CN" sz="2800" dirty="0"/>
              <a:t>Small local model on client + powerful VLM on server</a:t>
            </a:r>
            <a:endParaRPr lang="zh-CN" altLang="en-US" sz="2800" dirty="0"/>
          </a:p>
        </p:txBody>
      </p:sp>
      <p:pic>
        <p:nvPicPr>
          <p:cNvPr id="6" name="图形 5" descr="齿轮 纯色填充">
            <a:extLst>
              <a:ext uri="{FF2B5EF4-FFF2-40B4-BE49-F238E27FC236}">
                <a16:creationId xmlns:a16="http://schemas.microsoft.com/office/drawing/2014/main" id="{6E506F6C-F779-4F18-9F16-2BB74BAEA0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16365" y="3028344"/>
            <a:ext cx="675060" cy="675060"/>
          </a:xfrm>
          <a:prstGeom prst="rect">
            <a:avLst/>
          </a:prstGeom>
        </p:spPr>
      </p:pic>
      <p:pic>
        <p:nvPicPr>
          <p:cNvPr id="7" name="图形 6" descr="智能手机 纯色填充">
            <a:extLst>
              <a:ext uri="{FF2B5EF4-FFF2-40B4-BE49-F238E27FC236}">
                <a16:creationId xmlns:a16="http://schemas.microsoft.com/office/drawing/2014/main" id="{D11D4696-B68D-463F-A80A-E4CB062B13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84319" y="3641806"/>
            <a:ext cx="914400" cy="914400"/>
          </a:xfrm>
          <a:prstGeom prst="rect">
            <a:avLst/>
          </a:prstGeom>
        </p:spPr>
      </p:pic>
      <p:pic>
        <p:nvPicPr>
          <p:cNvPr id="8" name="图形 7" descr="计算机 纯色填充">
            <a:extLst>
              <a:ext uri="{FF2B5EF4-FFF2-40B4-BE49-F238E27FC236}">
                <a16:creationId xmlns:a16="http://schemas.microsoft.com/office/drawing/2014/main" id="{58868E57-7B7E-463A-9A44-2A407ABFDA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96697" y="3641806"/>
            <a:ext cx="914400" cy="914400"/>
          </a:xfrm>
          <a:prstGeom prst="rect">
            <a:avLst/>
          </a:prstGeom>
        </p:spPr>
      </p:pic>
      <p:pic>
        <p:nvPicPr>
          <p:cNvPr id="9" name="图形 8" descr="上一步 纯色填充">
            <a:extLst>
              <a:ext uri="{FF2B5EF4-FFF2-40B4-BE49-F238E27FC236}">
                <a16:creationId xmlns:a16="http://schemas.microsoft.com/office/drawing/2014/main" id="{47A2D9AB-9108-4DF7-A684-0590D51599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9500000">
            <a:off x="5708781" y="3169291"/>
            <a:ext cx="914400" cy="914400"/>
          </a:xfrm>
          <a:prstGeom prst="rect">
            <a:avLst/>
          </a:prstGeom>
        </p:spPr>
      </p:pic>
      <p:pic>
        <p:nvPicPr>
          <p:cNvPr id="10" name="图形 9" descr="带齿轮的头部 纯色填充">
            <a:extLst>
              <a:ext uri="{FF2B5EF4-FFF2-40B4-BE49-F238E27FC236}">
                <a16:creationId xmlns:a16="http://schemas.microsoft.com/office/drawing/2014/main" id="{0832B27C-3497-4FC2-B969-F2B341D6D9B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07273" y="4006991"/>
            <a:ext cx="268491" cy="268491"/>
          </a:xfrm>
          <a:prstGeom prst="rect">
            <a:avLst/>
          </a:prstGeom>
        </p:spPr>
      </p:pic>
      <p:pic>
        <p:nvPicPr>
          <p:cNvPr id="11" name="图形 10" descr="上一步 纯色填充">
            <a:extLst>
              <a:ext uri="{FF2B5EF4-FFF2-40B4-BE49-F238E27FC236}">
                <a16:creationId xmlns:a16="http://schemas.microsoft.com/office/drawing/2014/main" id="{D0F1984E-ACBB-4FC9-A320-04B8FCEE751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8700000">
            <a:off x="5740506" y="4367496"/>
            <a:ext cx="914400" cy="914400"/>
          </a:xfrm>
          <a:prstGeom prst="rect">
            <a:avLst/>
          </a:prstGeom>
        </p:spPr>
      </p:pic>
      <p:pic>
        <p:nvPicPr>
          <p:cNvPr id="12" name="图形 11" descr="文档 纯色填充">
            <a:extLst>
              <a:ext uri="{FF2B5EF4-FFF2-40B4-BE49-F238E27FC236}">
                <a16:creationId xmlns:a16="http://schemas.microsoft.com/office/drawing/2014/main" id="{05443D79-421D-4988-8A94-74AC938398F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80257" y="5129100"/>
            <a:ext cx="434897" cy="434897"/>
          </a:xfrm>
          <a:prstGeom prst="rect">
            <a:avLst/>
          </a:prstGeom>
        </p:spPr>
      </p:pic>
      <p:sp>
        <p:nvSpPr>
          <p:cNvPr id="13" name="文本框 12">
            <a:extLst>
              <a:ext uri="{FF2B5EF4-FFF2-40B4-BE49-F238E27FC236}">
                <a16:creationId xmlns:a16="http://schemas.microsoft.com/office/drawing/2014/main" id="{DD7D1817-75F6-4555-BEFE-1496C23E3D57}"/>
              </a:ext>
            </a:extLst>
          </p:cNvPr>
          <p:cNvSpPr txBox="1"/>
          <p:nvPr/>
        </p:nvSpPr>
        <p:spPr>
          <a:xfrm>
            <a:off x="3857099" y="4640667"/>
            <a:ext cx="1368837" cy="923330"/>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“A person is stretching both arms”</a:t>
            </a:r>
            <a:endParaRPr lang="zh-CN" altLang="en-US" dirty="0">
              <a:latin typeface="Calibri" panose="020F0502020204030204" pitchFamily="34" charset="0"/>
              <a:cs typeface="Calibri" panose="020F0502020204030204" pitchFamily="34" charset="0"/>
            </a:endParaRPr>
          </a:p>
        </p:txBody>
      </p:sp>
      <p:sp>
        <p:nvSpPr>
          <p:cNvPr id="25" name="文本框 24">
            <a:extLst>
              <a:ext uri="{FF2B5EF4-FFF2-40B4-BE49-F238E27FC236}">
                <a16:creationId xmlns:a16="http://schemas.microsoft.com/office/drawing/2014/main" id="{B4E76235-B590-4EE8-9081-B685D86B8511}"/>
              </a:ext>
            </a:extLst>
          </p:cNvPr>
          <p:cNvSpPr txBox="1"/>
          <p:nvPr/>
        </p:nvSpPr>
        <p:spPr>
          <a:xfrm>
            <a:off x="418018" y="2975939"/>
            <a:ext cx="3467056" cy="2062103"/>
          </a:xfrm>
          <a:prstGeom prst="rect">
            <a:avLst/>
          </a:prstGeom>
          <a:noFill/>
        </p:spPr>
        <p:txBody>
          <a:bodyPr wrap="square" rtlCol="0">
            <a:spAutoFit/>
          </a:bodyPr>
          <a:lstStyle/>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Take image</a:t>
            </a:r>
          </a:p>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Infer action</a:t>
            </a:r>
          </a:p>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Infer confidence</a:t>
            </a:r>
          </a:p>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Which to upload </a:t>
            </a:r>
          </a:p>
        </p:txBody>
      </p:sp>
      <p:sp>
        <p:nvSpPr>
          <p:cNvPr id="26" name="文本框 25">
            <a:extLst>
              <a:ext uri="{FF2B5EF4-FFF2-40B4-BE49-F238E27FC236}">
                <a16:creationId xmlns:a16="http://schemas.microsoft.com/office/drawing/2014/main" id="{0869021D-A208-4C22-AA0D-962EDBBF34D1}"/>
              </a:ext>
            </a:extLst>
          </p:cNvPr>
          <p:cNvSpPr txBox="1"/>
          <p:nvPr/>
        </p:nvSpPr>
        <p:spPr>
          <a:xfrm>
            <a:off x="8430765" y="3314176"/>
            <a:ext cx="3467056" cy="1569660"/>
          </a:xfrm>
          <a:prstGeom prst="rect">
            <a:avLst/>
          </a:prstGeom>
          <a:noFill/>
        </p:spPr>
        <p:txBody>
          <a:bodyPr wrap="square" rtlCol="0">
            <a:spAutoFit/>
          </a:bodyPr>
          <a:lstStyle/>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Take image</a:t>
            </a:r>
          </a:p>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Infer action</a:t>
            </a:r>
          </a:p>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If differ, replace</a:t>
            </a:r>
          </a:p>
        </p:txBody>
      </p:sp>
      <p:sp>
        <p:nvSpPr>
          <p:cNvPr id="2" name="文本框 1">
            <a:extLst>
              <a:ext uri="{FF2B5EF4-FFF2-40B4-BE49-F238E27FC236}">
                <a16:creationId xmlns:a16="http://schemas.microsoft.com/office/drawing/2014/main" id="{F7532561-D062-9C28-97B5-CD5E6915655D}"/>
              </a:ext>
            </a:extLst>
          </p:cNvPr>
          <p:cNvSpPr txBox="1"/>
          <p:nvPr/>
        </p:nvSpPr>
        <p:spPr>
          <a:xfrm>
            <a:off x="5579358" y="2228671"/>
            <a:ext cx="1368837" cy="1200329"/>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Yes:</a:t>
            </a:r>
          </a:p>
          <a:p>
            <a:r>
              <a:rPr lang="en-US" altLang="zh-CN" dirty="0">
                <a:latin typeface="Calibri" panose="020F0502020204030204" pitchFamily="34" charset="0"/>
                <a:ea typeface="Calibri" panose="020F0502020204030204" pitchFamily="34" charset="0"/>
                <a:cs typeface="Calibri" panose="020F0502020204030204" pitchFamily="34" charset="0"/>
              </a:rPr>
              <a:t>“A person is stretching both arms”</a:t>
            </a:r>
            <a:endParaRPr lang="zh-C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91244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E8E67-0ACB-F10C-C8DD-79D7E672FE90}"/>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05F3C1B-52CD-F251-A2F6-77A6C2F61B40}"/>
              </a:ext>
            </a:extLst>
          </p:cNvPr>
          <p:cNvSpPr>
            <a:spLocks noGrp="1"/>
          </p:cNvSpPr>
          <p:nvPr>
            <p:ph type="sldNum" sz="quarter" idx="12"/>
          </p:nvPr>
        </p:nvSpPr>
        <p:spPr/>
        <p:txBody>
          <a:bodyPr/>
          <a:lstStyle/>
          <a:p>
            <a:fld id="{05D9B913-E621-4E85-A790-32644CC04F9B}" type="slidenum">
              <a:rPr lang="zh-CN" altLang="en-US" smtClean="0"/>
              <a:t>5</a:t>
            </a:fld>
            <a:endParaRPr lang="zh-CN" altLang="en-US"/>
          </a:p>
        </p:txBody>
      </p:sp>
      <p:sp>
        <p:nvSpPr>
          <p:cNvPr id="5" name="文本框 4">
            <a:extLst>
              <a:ext uri="{FF2B5EF4-FFF2-40B4-BE49-F238E27FC236}">
                <a16:creationId xmlns:a16="http://schemas.microsoft.com/office/drawing/2014/main" id="{3CF16C97-6F0C-6659-5473-2AB064C393D7}"/>
              </a:ext>
            </a:extLst>
          </p:cNvPr>
          <p:cNvSpPr txBox="1"/>
          <p:nvPr/>
        </p:nvSpPr>
        <p:spPr>
          <a:xfrm>
            <a:off x="185986" y="67456"/>
            <a:ext cx="6146234" cy="707886"/>
          </a:xfrm>
          <a:prstGeom prst="rect">
            <a:avLst/>
          </a:prstGeom>
          <a:noFill/>
        </p:spPr>
        <p:txBody>
          <a:bodyPr wrap="none" rtlCol="0">
            <a:spAutoFit/>
          </a:bodyPr>
          <a:lstStyle/>
          <a:p>
            <a:r>
              <a:rPr lang="en-US" altLang="zh-CN" sz="4000" b="1" dirty="0">
                <a:latin typeface="Calibri" panose="020F0502020204030204" pitchFamily="34" charset="0"/>
                <a:ea typeface="Calibri" panose="020F0502020204030204" pitchFamily="34" charset="0"/>
                <a:cs typeface="Calibri" panose="020F0502020204030204" pitchFamily="34" charset="0"/>
              </a:rPr>
              <a:t>Technical approach (comm.)</a:t>
            </a:r>
            <a:endParaRPr lang="zh-CN" altLang="en-US" sz="4000" b="1" dirty="0">
              <a:latin typeface="Calibri" panose="020F0502020204030204" pitchFamily="34" charset="0"/>
              <a:cs typeface="Calibri" panose="020F0502020204030204" pitchFamily="34" charset="0"/>
            </a:endParaRPr>
          </a:p>
        </p:txBody>
      </p:sp>
      <p:sp>
        <p:nvSpPr>
          <p:cNvPr id="2" name="Shape 7">
            <a:extLst>
              <a:ext uri="{FF2B5EF4-FFF2-40B4-BE49-F238E27FC236}">
                <a16:creationId xmlns:a16="http://schemas.microsoft.com/office/drawing/2014/main" id="{3721DD2C-0621-E2AE-1BF3-2255EAA67561}"/>
              </a:ext>
            </a:extLst>
          </p:cNvPr>
          <p:cNvSpPr/>
          <p:nvPr/>
        </p:nvSpPr>
        <p:spPr>
          <a:xfrm>
            <a:off x="641196" y="775342"/>
            <a:ext cx="1783080" cy="658368"/>
          </a:xfrm>
          <a:prstGeom prst="roundRect">
            <a:avLst>
              <a:gd name="adj" fmla="val 11111"/>
            </a:avLst>
          </a:prstGeom>
          <a:solidFill>
            <a:srgbClr val="FFFFFF"/>
          </a:solidFill>
          <a:ln w="13970">
            <a:solidFill>
              <a:srgbClr val="0B1F3A"/>
            </a:solidFill>
            <a:prstDash val="solid"/>
          </a:ln>
        </p:spPr>
      </p:sp>
      <p:sp>
        <p:nvSpPr>
          <p:cNvPr id="3" name="Text 8">
            <a:extLst>
              <a:ext uri="{FF2B5EF4-FFF2-40B4-BE49-F238E27FC236}">
                <a16:creationId xmlns:a16="http://schemas.microsoft.com/office/drawing/2014/main" id="{D49AD98C-A09E-F980-3765-E3DCFE5C4D8C}"/>
              </a:ext>
            </a:extLst>
          </p:cNvPr>
          <p:cNvSpPr/>
          <p:nvPr/>
        </p:nvSpPr>
        <p:spPr>
          <a:xfrm>
            <a:off x="686916" y="848494"/>
            <a:ext cx="1691640" cy="548640"/>
          </a:xfrm>
          <a:prstGeom prst="rect">
            <a:avLst/>
          </a:prstGeom>
          <a:noFill/>
          <a:ln/>
        </p:spPr>
        <p:txBody>
          <a:bodyPr wrap="square" lIns="254" tIns="254" rIns="254" bIns="254" rtlCol="0" anchor="ctr">
            <a:normAutofit/>
          </a:bodyPr>
          <a:lstStyle/>
          <a:p>
            <a:pPr marL="0" indent="0" algn="ctr">
              <a:buNone/>
            </a:pPr>
            <a:r>
              <a:rPr lang="en-US" sz="1400" b="1" dirty="0">
                <a:solidFill>
                  <a:srgbClr val="0B1F3A"/>
                </a:solidFill>
              </a:rPr>
              <a:t>selected frame</a:t>
            </a:r>
            <a:endParaRPr lang="en-US" sz="1400" dirty="0"/>
          </a:p>
          <a:p>
            <a:pPr marL="0" indent="0" algn="ctr">
              <a:buNone/>
            </a:pPr>
            <a:r>
              <a:rPr lang="en-US" sz="1400" b="1" dirty="0">
                <a:solidFill>
                  <a:srgbClr val="0B1F3A"/>
                </a:solidFill>
              </a:rPr>
              <a:t>request arrives</a:t>
            </a:r>
            <a:endParaRPr lang="en-US" sz="1400" dirty="0"/>
          </a:p>
        </p:txBody>
      </p:sp>
      <p:sp>
        <p:nvSpPr>
          <p:cNvPr id="6" name="Shape 9">
            <a:extLst>
              <a:ext uri="{FF2B5EF4-FFF2-40B4-BE49-F238E27FC236}">
                <a16:creationId xmlns:a16="http://schemas.microsoft.com/office/drawing/2014/main" id="{92348AFF-AFF3-9965-FA4C-A2169ED347B3}"/>
              </a:ext>
            </a:extLst>
          </p:cNvPr>
          <p:cNvSpPr/>
          <p:nvPr/>
        </p:nvSpPr>
        <p:spPr>
          <a:xfrm>
            <a:off x="2744316" y="775342"/>
            <a:ext cx="1600200" cy="658368"/>
          </a:xfrm>
          <a:prstGeom prst="roundRect">
            <a:avLst>
              <a:gd name="adj" fmla="val 11111"/>
            </a:avLst>
          </a:prstGeom>
          <a:solidFill>
            <a:srgbClr val="FFFFFF"/>
          </a:solidFill>
          <a:ln w="13970">
            <a:solidFill>
              <a:srgbClr val="7B61FF"/>
            </a:solidFill>
            <a:prstDash val="solid"/>
          </a:ln>
        </p:spPr>
      </p:sp>
      <p:sp>
        <p:nvSpPr>
          <p:cNvPr id="7" name="Text 10">
            <a:extLst>
              <a:ext uri="{FF2B5EF4-FFF2-40B4-BE49-F238E27FC236}">
                <a16:creationId xmlns:a16="http://schemas.microsoft.com/office/drawing/2014/main" id="{6FC65DFA-A018-7841-BFE7-69F098AA6ED4}"/>
              </a:ext>
            </a:extLst>
          </p:cNvPr>
          <p:cNvSpPr/>
          <p:nvPr/>
        </p:nvSpPr>
        <p:spPr>
          <a:xfrm>
            <a:off x="2790036" y="848494"/>
            <a:ext cx="1508760" cy="548640"/>
          </a:xfrm>
          <a:prstGeom prst="rect">
            <a:avLst/>
          </a:prstGeom>
          <a:noFill/>
          <a:ln/>
        </p:spPr>
        <p:txBody>
          <a:bodyPr wrap="square" lIns="254" tIns="254" rIns="254" bIns="254" rtlCol="0" anchor="ctr">
            <a:normAutofit/>
          </a:bodyPr>
          <a:lstStyle/>
          <a:p>
            <a:pPr marL="0" indent="0" algn="ctr">
              <a:buNone/>
            </a:pPr>
            <a:r>
              <a:rPr lang="en-US" sz="1400" b="1" dirty="0">
                <a:solidFill>
                  <a:srgbClr val="7B61FF"/>
                </a:solidFill>
              </a:rPr>
              <a:t>wait for</a:t>
            </a:r>
            <a:endParaRPr lang="en-US" sz="1400" dirty="0"/>
          </a:p>
          <a:p>
            <a:pPr marL="0" indent="0" algn="ctr">
              <a:buNone/>
            </a:pPr>
            <a:r>
              <a:rPr lang="en-US" sz="1400" b="1" dirty="0">
                <a:solidFill>
                  <a:srgbClr val="7B61FF"/>
                </a:solidFill>
              </a:rPr>
              <a:t>upload grant</a:t>
            </a:r>
            <a:endParaRPr lang="en-US" sz="1400" dirty="0"/>
          </a:p>
        </p:txBody>
      </p:sp>
      <p:sp>
        <p:nvSpPr>
          <p:cNvPr id="8" name="Shape 11">
            <a:extLst>
              <a:ext uri="{FF2B5EF4-FFF2-40B4-BE49-F238E27FC236}">
                <a16:creationId xmlns:a16="http://schemas.microsoft.com/office/drawing/2014/main" id="{7E13E055-15BC-BB27-D078-9019E9662268}"/>
              </a:ext>
            </a:extLst>
          </p:cNvPr>
          <p:cNvSpPr/>
          <p:nvPr/>
        </p:nvSpPr>
        <p:spPr>
          <a:xfrm>
            <a:off x="4664556" y="775342"/>
            <a:ext cx="1463040" cy="658368"/>
          </a:xfrm>
          <a:prstGeom prst="roundRect">
            <a:avLst>
              <a:gd name="adj" fmla="val 11111"/>
            </a:avLst>
          </a:prstGeom>
          <a:solidFill>
            <a:srgbClr val="FFFFFF"/>
          </a:solidFill>
          <a:ln w="13970">
            <a:solidFill>
              <a:srgbClr val="2F80ED"/>
            </a:solidFill>
            <a:prstDash val="solid"/>
          </a:ln>
        </p:spPr>
      </p:sp>
      <p:sp>
        <p:nvSpPr>
          <p:cNvPr id="9" name="Text 12">
            <a:extLst>
              <a:ext uri="{FF2B5EF4-FFF2-40B4-BE49-F238E27FC236}">
                <a16:creationId xmlns:a16="http://schemas.microsoft.com/office/drawing/2014/main" id="{B07622E7-54F3-547E-1041-AE8C6F8EDB65}"/>
              </a:ext>
            </a:extLst>
          </p:cNvPr>
          <p:cNvSpPr/>
          <p:nvPr/>
        </p:nvSpPr>
        <p:spPr>
          <a:xfrm>
            <a:off x="4710276" y="848494"/>
            <a:ext cx="1371600" cy="548640"/>
          </a:xfrm>
          <a:prstGeom prst="rect">
            <a:avLst/>
          </a:prstGeom>
          <a:noFill/>
          <a:ln/>
        </p:spPr>
        <p:txBody>
          <a:bodyPr wrap="square" lIns="254" tIns="254" rIns="254" bIns="254" rtlCol="0" anchor="ctr">
            <a:normAutofit/>
          </a:bodyPr>
          <a:lstStyle/>
          <a:p>
            <a:pPr marL="0" indent="0" algn="ctr">
              <a:buNone/>
            </a:pPr>
            <a:r>
              <a:rPr lang="en-US" sz="1400" b="1" dirty="0">
                <a:solidFill>
                  <a:srgbClr val="2F80ED"/>
                </a:solidFill>
              </a:rPr>
              <a:t>upload</a:t>
            </a:r>
            <a:endParaRPr lang="en-US" sz="1400" dirty="0"/>
          </a:p>
        </p:txBody>
      </p:sp>
      <p:sp>
        <p:nvSpPr>
          <p:cNvPr id="10" name="Shape 13">
            <a:extLst>
              <a:ext uri="{FF2B5EF4-FFF2-40B4-BE49-F238E27FC236}">
                <a16:creationId xmlns:a16="http://schemas.microsoft.com/office/drawing/2014/main" id="{463E8808-F7B4-6AE8-54CC-6CDD54BFD404}"/>
              </a:ext>
            </a:extLst>
          </p:cNvPr>
          <p:cNvSpPr/>
          <p:nvPr/>
        </p:nvSpPr>
        <p:spPr>
          <a:xfrm>
            <a:off x="6447636" y="775342"/>
            <a:ext cx="1645920" cy="658368"/>
          </a:xfrm>
          <a:prstGeom prst="roundRect">
            <a:avLst>
              <a:gd name="adj" fmla="val 11111"/>
            </a:avLst>
          </a:prstGeom>
          <a:solidFill>
            <a:srgbClr val="FFFFFF"/>
          </a:solidFill>
          <a:ln w="13970">
            <a:solidFill>
              <a:srgbClr val="F2994A"/>
            </a:solidFill>
            <a:prstDash val="solid"/>
          </a:ln>
        </p:spPr>
      </p:sp>
      <p:sp>
        <p:nvSpPr>
          <p:cNvPr id="11" name="Text 14">
            <a:extLst>
              <a:ext uri="{FF2B5EF4-FFF2-40B4-BE49-F238E27FC236}">
                <a16:creationId xmlns:a16="http://schemas.microsoft.com/office/drawing/2014/main" id="{5C8AE736-DBD2-6D97-A601-7F2001A84BD1}"/>
              </a:ext>
            </a:extLst>
          </p:cNvPr>
          <p:cNvSpPr/>
          <p:nvPr/>
        </p:nvSpPr>
        <p:spPr>
          <a:xfrm>
            <a:off x="6493356" y="848494"/>
            <a:ext cx="1554480" cy="548640"/>
          </a:xfrm>
          <a:prstGeom prst="rect">
            <a:avLst/>
          </a:prstGeom>
          <a:noFill/>
          <a:ln/>
        </p:spPr>
        <p:txBody>
          <a:bodyPr wrap="square" lIns="254" tIns="254" rIns="254" bIns="254" rtlCol="0" anchor="ctr">
            <a:normAutofit/>
          </a:bodyPr>
          <a:lstStyle/>
          <a:p>
            <a:pPr marL="0" indent="0" algn="ctr">
              <a:buNone/>
            </a:pPr>
            <a:r>
              <a:rPr lang="en-US" sz="1400" b="1" dirty="0">
                <a:solidFill>
                  <a:srgbClr val="F2994A"/>
                </a:solidFill>
              </a:rPr>
              <a:t>edge VLM</a:t>
            </a:r>
            <a:endParaRPr lang="en-US" sz="1400" dirty="0"/>
          </a:p>
          <a:p>
            <a:pPr marL="0" indent="0" algn="ctr">
              <a:buNone/>
            </a:pPr>
            <a:r>
              <a:rPr lang="en-US" sz="1400" b="1" dirty="0">
                <a:solidFill>
                  <a:srgbClr val="F2994A"/>
                </a:solidFill>
              </a:rPr>
              <a:t>verification</a:t>
            </a:r>
            <a:endParaRPr lang="en-US" sz="1400" dirty="0"/>
          </a:p>
        </p:txBody>
      </p:sp>
      <p:sp>
        <p:nvSpPr>
          <p:cNvPr id="12" name="Shape 15">
            <a:extLst>
              <a:ext uri="{FF2B5EF4-FFF2-40B4-BE49-F238E27FC236}">
                <a16:creationId xmlns:a16="http://schemas.microsoft.com/office/drawing/2014/main" id="{2305C6F8-5F6B-022A-1400-808D1F7DB408}"/>
              </a:ext>
            </a:extLst>
          </p:cNvPr>
          <p:cNvSpPr/>
          <p:nvPr/>
        </p:nvSpPr>
        <p:spPr>
          <a:xfrm>
            <a:off x="8413596" y="775342"/>
            <a:ext cx="1600200" cy="658368"/>
          </a:xfrm>
          <a:prstGeom prst="roundRect">
            <a:avLst>
              <a:gd name="adj" fmla="val 11111"/>
            </a:avLst>
          </a:prstGeom>
          <a:solidFill>
            <a:srgbClr val="FFFFFF"/>
          </a:solidFill>
          <a:ln w="13970">
            <a:solidFill>
              <a:srgbClr val="27AE60"/>
            </a:solidFill>
            <a:prstDash val="solid"/>
          </a:ln>
        </p:spPr>
      </p:sp>
      <p:sp>
        <p:nvSpPr>
          <p:cNvPr id="13" name="Text 16">
            <a:extLst>
              <a:ext uri="{FF2B5EF4-FFF2-40B4-BE49-F238E27FC236}">
                <a16:creationId xmlns:a16="http://schemas.microsoft.com/office/drawing/2014/main" id="{041BA543-F898-7CFD-7261-F32AED87D832}"/>
              </a:ext>
            </a:extLst>
          </p:cNvPr>
          <p:cNvSpPr/>
          <p:nvPr/>
        </p:nvSpPr>
        <p:spPr>
          <a:xfrm>
            <a:off x="8459316" y="848494"/>
            <a:ext cx="1508760" cy="548640"/>
          </a:xfrm>
          <a:prstGeom prst="rect">
            <a:avLst/>
          </a:prstGeom>
          <a:noFill/>
          <a:ln/>
        </p:spPr>
        <p:txBody>
          <a:bodyPr wrap="square" lIns="254" tIns="254" rIns="254" bIns="254" rtlCol="0" anchor="ctr">
            <a:normAutofit/>
          </a:bodyPr>
          <a:lstStyle/>
          <a:p>
            <a:pPr marL="0" indent="0" algn="ctr">
              <a:buNone/>
            </a:pPr>
            <a:r>
              <a:rPr lang="en-US" sz="1400" b="1" dirty="0">
                <a:solidFill>
                  <a:srgbClr val="27AE60"/>
                </a:solidFill>
              </a:rPr>
              <a:t>small result</a:t>
            </a:r>
            <a:endParaRPr lang="en-US" sz="1400" dirty="0"/>
          </a:p>
          <a:p>
            <a:pPr marL="0" indent="0" algn="ctr">
              <a:buNone/>
            </a:pPr>
            <a:r>
              <a:rPr lang="en-US" sz="1400" b="1" dirty="0">
                <a:solidFill>
                  <a:srgbClr val="27AE60"/>
                </a:solidFill>
              </a:rPr>
              <a:t>downlink</a:t>
            </a:r>
            <a:endParaRPr lang="en-US" sz="1400" dirty="0"/>
          </a:p>
        </p:txBody>
      </p:sp>
      <p:sp>
        <p:nvSpPr>
          <p:cNvPr id="14" name="Shape 17">
            <a:extLst>
              <a:ext uri="{FF2B5EF4-FFF2-40B4-BE49-F238E27FC236}">
                <a16:creationId xmlns:a16="http://schemas.microsoft.com/office/drawing/2014/main" id="{DD1791DD-7584-A46F-F1EB-EB30FB2E3F6C}"/>
              </a:ext>
            </a:extLst>
          </p:cNvPr>
          <p:cNvSpPr/>
          <p:nvPr/>
        </p:nvSpPr>
        <p:spPr>
          <a:xfrm>
            <a:off x="10333836" y="775342"/>
            <a:ext cx="1371600" cy="658368"/>
          </a:xfrm>
          <a:prstGeom prst="roundRect">
            <a:avLst>
              <a:gd name="adj" fmla="val 11111"/>
            </a:avLst>
          </a:prstGeom>
          <a:solidFill>
            <a:srgbClr val="FFFFFF"/>
          </a:solidFill>
          <a:ln w="13970">
            <a:solidFill>
              <a:srgbClr val="19A7A5"/>
            </a:solidFill>
            <a:prstDash val="solid"/>
          </a:ln>
        </p:spPr>
      </p:sp>
      <p:sp>
        <p:nvSpPr>
          <p:cNvPr id="15" name="Text 18">
            <a:extLst>
              <a:ext uri="{FF2B5EF4-FFF2-40B4-BE49-F238E27FC236}">
                <a16:creationId xmlns:a16="http://schemas.microsoft.com/office/drawing/2014/main" id="{89DCAD38-7FCC-50A2-2B44-865411368C0A}"/>
              </a:ext>
            </a:extLst>
          </p:cNvPr>
          <p:cNvSpPr/>
          <p:nvPr/>
        </p:nvSpPr>
        <p:spPr>
          <a:xfrm>
            <a:off x="10379556" y="848494"/>
            <a:ext cx="1280160" cy="548640"/>
          </a:xfrm>
          <a:prstGeom prst="rect">
            <a:avLst/>
          </a:prstGeom>
          <a:noFill/>
          <a:ln/>
        </p:spPr>
        <p:txBody>
          <a:bodyPr wrap="square" lIns="254" tIns="254" rIns="254" bIns="254" rtlCol="0" anchor="ctr">
            <a:normAutofit/>
          </a:bodyPr>
          <a:lstStyle/>
          <a:p>
            <a:pPr marL="0" indent="0" algn="ctr">
              <a:buNone/>
            </a:pPr>
            <a:r>
              <a:rPr lang="en-US" sz="1400" b="1" dirty="0">
                <a:solidFill>
                  <a:srgbClr val="19A7A5"/>
                </a:solidFill>
              </a:rPr>
              <a:t>accept or</a:t>
            </a:r>
            <a:endParaRPr lang="en-US" sz="1400" dirty="0"/>
          </a:p>
          <a:p>
            <a:pPr marL="0" indent="0" algn="ctr">
              <a:buNone/>
            </a:pPr>
            <a:r>
              <a:rPr lang="en-US" sz="1400" b="1" dirty="0">
                <a:solidFill>
                  <a:srgbClr val="19A7A5"/>
                </a:solidFill>
              </a:rPr>
              <a:t>rewrite</a:t>
            </a:r>
            <a:endParaRPr lang="en-US" sz="1400" dirty="0"/>
          </a:p>
        </p:txBody>
      </p:sp>
      <p:sp>
        <p:nvSpPr>
          <p:cNvPr id="16" name="Shape 19">
            <a:extLst>
              <a:ext uri="{FF2B5EF4-FFF2-40B4-BE49-F238E27FC236}">
                <a16:creationId xmlns:a16="http://schemas.microsoft.com/office/drawing/2014/main" id="{C712A131-8AC4-B004-585F-B07A3E6BB910}"/>
              </a:ext>
            </a:extLst>
          </p:cNvPr>
          <p:cNvSpPr/>
          <p:nvPr/>
        </p:nvSpPr>
        <p:spPr>
          <a:xfrm>
            <a:off x="2424276" y="1104526"/>
            <a:ext cx="320040" cy="0"/>
          </a:xfrm>
          <a:prstGeom prst="line">
            <a:avLst/>
          </a:prstGeom>
          <a:noFill/>
          <a:ln w="20320">
            <a:solidFill>
              <a:srgbClr val="6B7280"/>
            </a:solidFill>
            <a:prstDash val="solid"/>
            <a:headEnd type="none"/>
            <a:tailEnd type="triangle"/>
          </a:ln>
        </p:spPr>
      </p:sp>
      <p:sp>
        <p:nvSpPr>
          <p:cNvPr id="17" name="Shape 20">
            <a:extLst>
              <a:ext uri="{FF2B5EF4-FFF2-40B4-BE49-F238E27FC236}">
                <a16:creationId xmlns:a16="http://schemas.microsoft.com/office/drawing/2014/main" id="{CD113188-6E83-6EE7-89E5-133D1ABE27B9}"/>
              </a:ext>
            </a:extLst>
          </p:cNvPr>
          <p:cNvSpPr/>
          <p:nvPr/>
        </p:nvSpPr>
        <p:spPr>
          <a:xfrm>
            <a:off x="4344516" y="1104526"/>
            <a:ext cx="320040" cy="0"/>
          </a:xfrm>
          <a:prstGeom prst="line">
            <a:avLst/>
          </a:prstGeom>
          <a:noFill/>
          <a:ln w="20320">
            <a:solidFill>
              <a:srgbClr val="6B7280"/>
            </a:solidFill>
            <a:prstDash val="solid"/>
            <a:headEnd type="none"/>
            <a:tailEnd type="triangle"/>
          </a:ln>
        </p:spPr>
      </p:sp>
      <p:sp>
        <p:nvSpPr>
          <p:cNvPr id="18" name="Shape 21">
            <a:extLst>
              <a:ext uri="{FF2B5EF4-FFF2-40B4-BE49-F238E27FC236}">
                <a16:creationId xmlns:a16="http://schemas.microsoft.com/office/drawing/2014/main" id="{663BB909-8F08-0FC4-FE87-54377E0344CE}"/>
              </a:ext>
            </a:extLst>
          </p:cNvPr>
          <p:cNvSpPr/>
          <p:nvPr/>
        </p:nvSpPr>
        <p:spPr>
          <a:xfrm>
            <a:off x="6127596" y="1104526"/>
            <a:ext cx="320040" cy="0"/>
          </a:xfrm>
          <a:prstGeom prst="line">
            <a:avLst/>
          </a:prstGeom>
          <a:noFill/>
          <a:ln w="20320">
            <a:solidFill>
              <a:srgbClr val="6B7280"/>
            </a:solidFill>
            <a:prstDash val="solid"/>
            <a:headEnd type="none"/>
            <a:tailEnd type="triangle"/>
          </a:ln>
        </p:spPr>
      </p:sp>
      <p:sp>
        <p:nvSpPr>
          <p:cNvPr id="19" name="Shape 22">
            <a:extLst>
              <a:ext uri="{FF2B5EF4-FFF2-40B4-BE49-F238E27FC236}">
                <a16:creationId xmlns:a16="http://schemas.microsoft.com/office/drawing/2014/main" id="{DAC0E8E4-89C5-0A35-FF52-83F2A15F537A}"/>
              </a:ext>
            </a:extLst>
          </p:cNvPr>
          <p:cNvSpPr/>
          <p:nvPr/>
        </p:nvSpPr>
        <p:spPr>
          <a:xfrm>
            <a:off x="8093556" y="1104526"/>
            <a:ext cx="320040" cy="0"/>
          </a:xfrm>
          <a:prstGeom prst="line">
            <a:avLst/>
          </a:prstGeom>
          <a:noFill/>
          <a:ln w="20320">
            <a:solidFill>
              <a:srgbClr val="6B7280"/>
            </a:solidFill>
            <a:prstDash val="solid"/>
            <a:headEnd type="none"/>
            <a:tailEnd type="triangle"/>
          </a:ln>
        </p:spPr>
      </p:sp>
      <p:sp>
        <p:nvSpPr>
          <p:cNvPr id="20" name="Shape 23">
            <a:extLst>
              <a:ext uri="{FF2B5EF4-FFF2-40B4-BE49-F238E27FC236}">
                <a16:creationId xmlns:a16="http://schemas.microsoft.com/office/drawing/2014/main" id="{9BE4C398-FA74-1F09-95A7-1E33BB0364D4}"/>
              </a:ext>
            </a:extLst>
          </p:cNvPr>
          <p:cNvSpPr/>
          <p:nvPr/>
        </p:nvSpPr>
        <p:spPr>
          <a:xfrm>
            <a:off x="10013796" y="1104526"/>
            <a:ext cx="320040" cy="0"/>
          </a:xfrm>
          <a:prstGeom prst="line">
            <a:avLst/>
          </a:prstGeom>
          <a:noFill/>
          <a:ln w="20320">
            <a:solidFill>
              <a:srgbClr val="6B7280"/>
            </a:solidFill>
            <a:prstDash val="solid"/>
            <a:headEnd type="none"/>
            <a:tailEnd type="triangle"/>
          </a:ln>
        </p:spPr>
      </p:sp>
      <mc:AlternateContent xmlns:mc="http://schemas.openxmlformats.org/markup-compatibility/2006">
        <mc:Choice xmlns:a14="http://schemas.microsoft.com/office/drawing/2010/main" Requires="a14">
          <p:sp>
            <p:nvSpPr>
              <p:cNvPr id="21" name="Text 24">
                <a:extLst>
                  <a:ext uri="{FF2B5EF4-FFF2-40B4-BE49-F238E27FC236}">
                    <a16:creationId xmlns:a16="http://schemas.microsoft.com/office/drawing/2014/main" id="{53CF7D7A-069E-FFF5-1DE6-88266759A841}"/>
                  </a:ext>
                </a:extLst>
              </p:cNvPr>
              <p:cNvSpPr/>
              <p:nvPr/>
            </p:nvSpPr>
            <p:spPr>
              <a:xfrm>
                <a:off x="915516" y="1638676"/>
                <a:ext cx="10332720" cy="502920"/>
              </a:xfrm>
              <a:prstGeom prst="rect">
                <a:avLst/>
              </a:prstGeom>
              <a:solidFill>
                <a:srgbClr val="EAF3FF"/>
              </a:solidFill>
              <a:ln w="12700">
                <a:solidFill>
                  <a:srgbClr val="2F80ED"/>
                </a:solidFill>
              </a:ln>
            </p:spPr>
            <p:txBody>
              <a:bodyPr wrap="square" lIns="508" tIns="508" rIns="508" bIns="508" rtlCol="0" anchor="ctr">
                <a:normAutofit/>
              </a:bodyPr>
              <a:lstStyle/>
              <a:p>
                <a:pPr algn="ctr"/>
                <a14:m>
                  <m:oMath xmlns:m="http://schemas.openxmlformats.org/officeDocument/2006/math">
                    <m:sSubSup>
                      <m:sSubSupPr>
                        <m:ctrlPr>
                          <a:rPr lang="en-US" altLang="zh-CN" sz="2000" b="0" i="1" smtClean="0">
                            <a:solidFill>
                              <a:srgbClr val="0B1F3A"/>
                            </a:solidFill>
                            <a:latin typeface="Cambria Math" panose="02040503050406030204" pitchFamily="18" charset="0"/>
                            <a:ea typeface="Cambria Math" pitchFamily="34" charset="-122"/>
                          </a:rPr>
                        </m:ctrlPr>
                      </m:sSubSupPr>
                      <m:e>
                        <m:r>
                          <a:rPr lang="en-US" altLang="zh-CN" sz="2000" b="0" i="1" smtClean="0">
                            <a:solidFill>
                              <a:srgbClr val="0B1F3A"/>
                            </a:solidFill>
                            <a:latin typeface="Cambria Math" panose="02040503050406030204" pitchFamily="18" charset="0"/>
                            <a:ea typeface="Cambria Math" pitchFamily="34" charset="-122"/>
                          </a:rPr>
                          <m:t>𝑇</m:t>
                        </m:r>
                      </m:e>
                      <m:sub>
                        <m:r>
                          <m:rPr>
                            <m:sty m:val="p"/>
                          </m:rPr>
                          <a:rPr lang="en-US" altLang="zh-CN" sz="2000" i="1">
                            <a:solidFill>
                              <a:srgbClr val="0B1F3A"/>
                            </a:solidFill>
                            <a:latin typeface="Cambria Math" panose="02040503050406030204" pitchFamily="18" charset="0"/>
                            <a:ea typeface="Cambria Math" pitchFamily="34" charset="-122"/>
                          </a:rPr>
                          <m:t>i</m:t>
                        </m:r>
                      </m:sub>
                      <m:sup>
                        <m:r>
                          <a:rPr lang="en-US" altLang="zh-CN" sz="2000" b="0" i="1" smtClean="0">
                            <a:solidFill>
                              <a:srgbClr val="0B1F3A"/>
                            </a:solidFill>
                            <a:latin typeface="Cambria Math" panose="02040503050406030204" pitchFamily="18" charset="0"/>
                            <a:ea typeface="Cambria Math" pitchFamily="34" charset="-122"/>
                          </a:rPr>
                          <m:t>𝑐𝑜𝑛𝑓</m:t>
                        </m:r>
                      </m:sup>
                    </m:sSubSup>
                  </m:oMath>
                </a14:m>
                <a:r>
                  <a:rPr lang="en-US" sz="2000" dirty="0">
                    <a:solidFill>
                      <a:srgbClr val="0B1F3A"/>
                    </a:solidFill>
                    <a:latin typeface="Cambria Math" pitchFamily="34" charset="0"/>
                    <a:ea typeface="Cambria Math" pitchFamily="34" charset="-122"/>
                    <a:cs typeface="Cambria Math" pitchFamily="34" charset="-120"/>
                  </a:rPr>
                  <a:t>= </a:t>
                </a:r>
                <a14:m>
                  <m:oMath xmlns:m="http://schemas.openxmlformats.org/officeDocument/2006/math">
                    <m:sSubSup>
                      <m:sSubSupPr>
                        <m:ctrlPr>
                          <a:rPr lang="en-US" altLang="zh-CN" sz="2000" i="1">
                            <a:solidFill>
                              <a:srgbClr val="0B1F3A"/>
                            </a:solidFill>
                            <a:latin typeface="Cambria Math" panose="02040503050406030204" pitchFamily="18" charset="0"/>
                            <a:ea typeface="Cambria Math" pitchFamily="34" charset="-122"/>
                          </a:rPr>
                        </m:ctrlPr>
                      </m:sSubSupPr>
                      <m:e>
                        <m:r>
                          <a:rPr lang="en-US" altLang="zh-CN" sz="2000" i="1">
                            <a:solidFill>
                              <a:srgbClr val="0B1F3A"/>
                            </a:solidFill>
                            <a:latin typeface="Cambria Math" panose="02040503050406030204" pitchFamily="18" charset="0"/>
                            <a:ea typeface="Cambria Math" pitchFamily="34" charset="-122"/>
                          </a:rPr>
                          <m:t>𝑇</m:t>
                        </m:r>
                      </m:e>
                      <m:sub>
                        <m:r>
                          <m:rPr>
                            <m:sty m:val="p"/>
                          </m:rPr>
                          <a:rPr lang="en-US" altLang="zh-CN" sz="2000" i="1">
                            <a:solidFill>
                              <a:srgbClr val="0B1F3A"/>
                            </a:solidFill>
                            <a:latin typeface="Cambria Math" panose="02040503050406030204" pitchFamily="18" charset="0"/>
                            <a:ea typeface="Cambria Math" pitchFamily="34" charset="-122"/>
                          </a:rPr>
                          <m:t>i</m:t>
                        </m:r>
                      </m:sub>
                      <m:sup>
                        <m:r>
                          <a:rPr lang="en-US" altLang="zh-CN" sz="2000" b="0" i="1" smtClean="0">
                            <a:solidFill>
                              <a:srgbClr val="0B1F3A"/>
                            </a:solidFill>
                            <a:latin typeface="Cambria Math" panose="02040503050406030204" pitchFamily="18" charset="0"/>
                            <a:ea typeface="Cambria Math" pitchFamily="34" charset="-122"/>
                          </a:rPr>
                          <m:t>𝑤𝑎𝑖𝑡</m:t>
                        </m:r>
                      </m:sup>
                    </m:sSubSup>
                    <m:r>
                      <a:rPr lang="en-US" altLang="zh-CN" sz="2000" i="1">
                        <a:solidFill>
                          <a:srgbClr val="0B1F3A"/>
                        </a:solidFill>
                        <a:latin typeface="Cambria Math" panose="02040503050406030204" pitchFamily="18" charset="0"/>
                        <a:ea typeface="Cambria Math" pitchFamily="34" charset="-122"/>
                      </a:rPr>
                      <m:t> </m:t>
                    </m:r>
                  </m:oMath>
                </a14:m>
                <a:r>
                  <a:rPr lang="en-US" sz="2000" dirty="0">
                    <a:solidFill>
                      <a:srgbClr val="0B1F3A"/>
                    </a:solidFill>
                    <a:latin typeface="Cambria Math" pitchFamily="34" charset="0"/>
                    <a:ea typeface="Cambria Math" pitchFamily="34" charset="-122"/>
                    <a:cs typeface="Cambria Math" pitchFamily="34" charset="-120"/>
                  </a:rPr>
                  <a:t>+ </a:t>
                </a:r>
                <a14:m>
                  <m:oMath xmlns:m="http://schemas.openxmlformats.org/officeDocument/2006/math">
                    <m:sSubSup>
                      <m:sSubSupPr>
                        <m:ctrlPr>
                          <a:rPr lang="en-US" altLang="zh-CN" sz="2000" i="1">
                            <a:solidFill>
                              <a:srgbClr val="0B1F3A"/>
                            </a:solidFill>
                            <a:latin typeface="Cambria Math" panose="02040503050406030204" pitchFamily="18" charset="0"/>
                            <a:ea typeface="Cambria Math" pitchFamily="34" charset="-122"/>
                          </a:rPr>
                        </m:ctrlPr>
                      </m:sSubSupPr>
                      <m:e>
                        <m:r>
                          <a:rPr lang="en-US" altLang="zh-CN" sz="2000" i="1">
                            <a:solidFill>
                              <a:srgbClr val="0B1F3A"/>
                            </a:solidFill>
                            <a:latin typeface="Cambria Math" panose="02040503050406030204" pitchFamily="18" charset="0"/>
                            <a:ea typeface="Cambria Math" pitchFamily="34" charset="-122"/>
                          </a:rPr>
                          <m:t>𝑇</m:t>
                        </m:r>
                      </m:e>
                      <m:sub>
                        <m:r>
                          <m:rPr>
                            <m:sty m:val="p"/>
                          </m:rPr>
                          <a:rPr lang="en-US" altLang="zh-CN" sz="2000" i="1">
                            <a:solidFill>
                              <a:srgbClr val="0B1F3A"/>
                            </a:solidFill>
                            <a:latin typeface="Cambria Math" panose="02040503050406030204" pitchFamily="18" charset="0"/>
                            <a:ea typeface="Cambria Math" pitchFamily="34" charset="-122"/>
                          </a:rPr>
                          <m:t>i</m:t>
                        </m:r>
                      </m:sub>
                      <m:sup>
                        <m:r>
                          <a:rPr lang="en-US" altLang="zh-CN" sz="2000" b="0" i="1" smtClean="0">
                            <a:solidFill>
                              <a:srgbClr val="0B1F3A"/>
                            </a:solidFill>
                            <a:latin typeface="Cambria Math" panose="02040503050406030204" pitchFamily="18" charset="0"/>
                            <a:ea typeface="Cambria Math" pitchFamily="34" charset="-122"/>
                          </a:rPr>
                          <m:t>𝑢𝑝</m:t>
                        </m:r>
                      </m:sup>
                    </m:sSubSup>
                    <m:r>
                      <a:rPr lang="en-US" altLang="zh-CN" sz="2000" i="1">
                        <a:solidFill>
                          <a:srgbClr val="0B1F3A"/>
                        </a:solidFill>
                        <a:latin typeface="Cambria Math" panose="02040503050406030204" pitchFamily="18" charset="0"/>
                        <a:ea typeface="Cambria Math" pitchFamily="34" charset="-122"/>
                      </a:rPr>
                      <m:t> </m:t>
                    </m:r>
                  </m:oMath>
                </a14:m>
                <a:r>
                  <a:rPr lang="en-US" sz="2000" dirty="0">
                    <a:solidFill>
                      <a:srgbClr val="0B1F3A"/>
                    </a:solidFill>
                    <a:latin typeface="Cambria Math" pitchFamily="34" charset="0"/>
                    <a:ea typeface="Cambria Math" pitchFamily="34" charset="-122"/>
                    <a:cs typeface="Cambria Math" pitchFamily="34" charset="-120"/>
                  </a:rPr>
                  <a:t>+ </a:t>
                </a:r>
                <a14:m>
                  <m:oMath xmlns:m="http://schemas.openxmlformats.org/officeDocument/2006/math">
                    <m:sSubSup>
                      <m:sSubSupPr>
                        <m:ctrlPr>
                          <a:rPr lang="en-US" altLang="zh-CN" sz="2000" i="1">
                            <a:solidFill>
                              <a:srgbClr val="0B1F3A"/>
                            </a:solidFill>
                            <a:latin typeface="Cambria Math" panose="02040503050406030204" pitchFamily="18" charset="0"/>
                            <a:ea typeface="Cambria Math" pitchFamily="34" charset="-122"/>
                          </a:rPr>
                        </m:ctrlPr>
                      </m:sSubSupPr>
                      <m:e>
                        <m:r>
                          <a:rPr lang="en-US" altLang="zh-CN" sz="2000" i="1">
                            <a:solidFill>
                              <a:srgbClr val="0B1F3A"/>
                            </a:solidFill>
                            <a:latin typeface="Cambria Math" panose="02040503050406030204" pitchFamily="18" charset="0"/>
                            <a:ea typeface="Cambria Math" pitchFamily="34" charset="-122"/>
                          </a:rPr>
                          <m:t>𝑇</m:t>
                        </m:r>
                      </m:e>
                      <m:sub>
                        <m:r>
                          <m:rPr>
                            <m:sty m:val="p"/>
                          </m:rPr>
                          <a:rPr lang="en-US" altLang="zh-CN" sz="2000" i="1">
                            <a:solidFill>
                              <a:srgbClr val="0B1F3A"/>
                            </a:solidFill>
                            <a:latin typeface="Cambria Math" panose="02040503050406030204" pitchFamily="18" charset="0"/>
                            <a:ea typeface="Cambria Math" pitchFamily="34" charset="-122"/>
                          </a:rPr>
                          <m:t>i</m:t>
                        </m:r>
                      </m:sub>
                      <m:sup>
                        <m:r>
                          <a:rPr lang="en-US" altLang="zh-CN" sz="2000" b="0" i="1" smtClean="0">
                            <a:solidFill>
                              <a:srgbClr val="0B1F3A"/>
                            </a:solidFill>
                            <a:latin typeface="Cambria Math" panose="02040503050406030204" pitchFamily="18" charset="0"/>
                            <a:ea typeface="Cambria Math" pitchFamily="34" charset="-122"/>
                          </a:rPr>
                          <m:t>𝑒𝑑𝑔𝑒</m:t>
                        </m:r>
                      </m:sup>
                    </m:sSubSup>
                    <m:r>
                      <a:rPr lang="en-US" altLang="zh-CN" sz="2000" i="1">
                        <a:solidFill>
                          <a:srgbClr val="0B1F3A"/>
                        </a:solidFill>
                        <a:latin typeface="Cambria Math" panose="02040503050406030204" pitchFamily="18" charset="0"/>
                        <a:ea typeface="Cambria Math" pitchFamily="34" charset="-122"/>
                      </a:rPr>
                      <m:t> </m:t>
                    </m:r>
                  </m:oMath>
                </a14:m>
                <a:r>
                  <a:rPr lang="en-US" sz="2000" dirty="0">
                    <a:solidFill>
                      <a:srgbClr val="0B1F3A"/>
                    </a:solidFill>
                    <a:latin typeface="Cambria Math" pitchFamily="34" charset="0"/>
                    <a:ea typeface="Cambria Math" pitchFamily="34" charset="-122"/>
                    <a:cs typeface="Cambria Math" pitchFamily="34" charset="-120"/>
                  </a:rPr>
                  <a:t>+ </a:t>
                </a:r>
                <a14:m>
                  <m:oMath xmlns:m="http://schemas.openxmlformats.org/officeDocument/2006/math">
                    <m:sSubSup>
                      <m:sSubSupPr>
                        <m:ctrlPr>
                          <a:rPr lang="en-US" altLang="zh-CN" sz="2000" i="1">
                            <a:solidFill>
                              <a:srgbClr val="0B1F3A"/>
                            </a:solidFill>
                            <a:latin typeface="Cambria Math" panose="02040503050406030204" pitchFamily="18" charset="0"/>
                            <a:ea typeface="Cambria Math" pitchFamily="34" charset="-122"/>
                          </a:rPr>
                        </m:ctrlPr>
                      </m:sSubSupPr>
                      <m:e>
                        <m:r>
                          <a:rPr lang="en-US" altLang="zh-CN" sz="2000" i="1">
                            <a:solidFill>
                              <a:srgbClr val="0B1F3A"/>
                            </a:solidFill>
                            <a:latin typeface="Cambria Math" panose="02040503050406030204" pitchFamily="18" charset="0"/>
                            <a:ea typeface="Cambria Math" pitchFamily="34" charset="-122"/>
                          </a:rPr>
                          <m:t>𝑇</m:t>
                        </m:r>
                      </m:e>
                      <m:sub>
                        <m:r>
                          <m:rPr>
                            <m:sty m:val="p"/>
                          </m:rPr>
                          <a:rPr lang="en-US" altLang="zh-CN" sz="2000" i="1">
                            <a:solidFill>
                              <a:srgbClr val="0B1F3A"/>
                            </a:solidFill>
                            <a:latin typeface="Cambria Math" panose="02040503050406030204" pitchFamily="18" charset="0"/>
                            <a:ea typeface="Cambria Math" pitchFamily="34" charset="-122"/>
                          </a:rPr>
                          <m:t>i</m:t>
                        </m:r>
                      </m:sub>
                      <m:sup>
                        <m:r>
                          <a:rPr lang="en-US" altLang="zh-CN" sz="2000" b="0" i="1" smtClean="0">
                            <a:solidFill>
                              <a:srgbClr val="0B1F3A"/>
                            </a:solidFill>
                            <a:latin typeface="Cambria Math" panose="02040503050406030204" pitchFamily="18" charset="0"/>
                            <a:ea typeface="Cambria Math" pitchFamily="34" charset="-122"/>
                          </a:rPr>
                          <m:t>𝑑𝑜𝑤𝑛</m:t>
                        </m:r>
                      </m:sup>
                    </m:sSubSup>
                  </m:oMath>
                </a14:m>
                <a:endParaRPr lang="en-US" sz="2000" dirty="0"/>
              </a:p>
            </p:txBody>
          </p:sp>
        </mc:Choice>
        <mc:Fallback>
          <p:sp>
            <p:nvSpPr>
              <p:cNvPr id="21" name="Text 24">
                <a:extLst>
                  <a:ext uri="{FF2B5EF4-FFF2-40B4-BE49-F238E27FC236}">
                    <a16:creationId xmlns:a16="http://schemas.microsoft.com/office/drawing/2014/main" id="{53CF7D7A-069E-FFF5-1DE6-88266759A841}"/>
                  </a:ext>
                </a:extLst>
              </p:cNvPr>
              <p:cNvSpPr>
                <a:spLocks noRot="1" noChangeAspect="1" noMove="1" noResize="1" noEditPoints="1" noAdjustHandles="1" noChangeArrowheads="1" noChangeShapeType="1" noTextEdit="1"/>
              </p:cNvSpPr>
              <p:nvPr/>
            </p:nvSpPr>
            <p:spPr>
              <a:xfrm>
                <a:off x="915516" y="1638676"/>
                <a:ext cx="10332720" cy="502920"/>
              </a:xfrm>
              <a:prstGeom prst="rect">
                <a:avLst/>
              </a:prstGeom>
              <a:blipFill>
                <a:blip r:embed="rId3"/>
                <a:stretch>
                  <a:fillRect b="-11905"/>
                </a:stretch>
              </a:blipFill>
              <a:ln w="12700">
                <a:solidFill>
                  <a:srgbClr val="2F80ED"/>
                </a:solidFill>
              </a:ln>
            </p:spPr>
            <p:txBody>
              <a:bodyPr/>
              <a:lstStyle/>
              <a:p>
                <a:r>
                  <a:rPr lang="zh-CN" altLang="en-US">
                    <a:noFill/>
                  </a:rPr>
                  <a:t> </a:t>
                </a:r>
              </a:p>
            </p:txBody>
          </p:sp>
        </mc:Fallback>
      </mc:AlternateContent>
      <p:sp>
        <p:nvSpPr>
          <p:cNvPr id="22" name="Text 2">
            <a:extLst>
              <a:ext uri="{FF2B5EF4-FFF2-40B4-BE49-F238E27FC236}">
                <a16:creationId xmlns:a16="http://schemas.microsoft.com/office/drawing/2014/main" id="{E656034C-31AB-350F-E214-42D92AC00D0A}"/>
              </a:ext>
            </a:extLst>
          </p:cNvPr>
          <p:cNvSpPr/>
          <p:nvPr/>
        </p:nvSpPr>
        <p:spPr>
          <a:xfrm>
            <a:off x="298296" y="2318004"/>
            <a:ext cx="9875520" cy="411480"/>
          </a:xfrm>
          <a:prstGeom prst="rect">
            <a:avLst/>
          </a:prstGeom>
          <a:noFill/>
          <a:ln/>
        </p:spPr>
        <p:txBody>
          <a:bodyPr wrap="square" lIns="0" tIns="0" rIns="0" bIns="0" rtlCol="0" anchor="ctr"/>
          <a:lstStyle/>
          <a:p>
            <a:pPr marL="0" indent="0">
              <a:buNone/>
            </a:pPr>
            <a:r>
              <a:rPr lang="en-US" sz="2400" b="1" dirty="0">
                <a:solidFill>
                  <a:srgbClr val="0B1F3A"/>
                </a:solidFill>
                <a:latin typeface="Aptos Display" pitchFamily="34" charset="0"/>
                <a:ea typeface="Aptos Display" pitchFamily="34" charset="-122"/>
                <a:cs typeface="Aptos Display" pitchFamily="34" charset="-120"/>
              </a:rPr>
              <a:t>Online Edge-Latency Prediction</a:t>
            </a:r>
            <a:endParaRPr lang="en-US" sz="2400" dirty="0"/>
          </a:p>
        </p:txBody>
      </p:sp>
      <p:sp>
        <p:nvSpPr>
          <p:cNvPr id="23" name="Shape 7">
            <a:extLst>
              <a:ext uri="{FF2B5EF4-FFF2-40B4-BE49-F238E27FC236}">
                <a16:creationId xmlns:a16="http://schemas.microsoft.com/office/drawing/2014/main" id="{36599A47-6E3F-963C-4D35-66B81820F76B}"/>
              </a:ext>
            </a:extLst>
          </p:cNvPr>
          <p:cNvSpPr/>
          <p:nvPr/>
        </p:nvSpPr>
        <p:spPr>
          <a:xfrm>
            <a:off x="185986" y="2843784"/>
            <a:ext cx="3657600" cy="3803904"/>
          </a:xfrm>
          <a:prstGeom prst="roundRect">
            <a:avLst>
              <a:gd name="adj" fmla="val 2000"/>
            </a:avLst>
          </a:prstGeom>
          <a:solidFill>
            <a:srgbClr val="FFF4E6"/>
          </a:solidFill>
          <a:ln w="7620">
            <a:solidFill>
              <a:srgbClr val="F2994A"/>
            </a:solidFill>
            <a:prstDash val="solid"/>
          </a:ln>
        </p:spPr>
      </p:sp>
      <p:sp>
        <p:nvSpPr>
          <p:cNvPr id="24" name="Text 8">
            <a:extLst>
              <a:ext uri="{FF2B5EF4-FFF2-40B4-BE49-F238E27FC236}">
                <a16:creationId xmlns:a16="http://schemas.microsoft.com/office/drawing/2014/main" id="{84F6BFF0-E3F6-30A6-E99C-6FD4C24B6647}"/>
              </a:ext>
            </a:extLst>
          </p:cNvPr>
          <p:cNvSpPr/>
          <p:nvPr/>
        </p:nvSpPr>
        <p:spPr>
          <a:xfrm>
            <a:off x="460306" y="3090672"/>
            <a:ext cx="3154680" cy="320040"/>
          </a:xfrm>
          <a:prstGeom prst="rect">
            <a:avLst/>
          </a:prstGeom>
          <a:noFill/>
          <a:ln/>
        </p:spPr>
        <p:txBody>
          <a:bodyPr wrap="square" lIns="635" tIns="635" rIns="635" bIns="635" rtlCol="0" anchor="t">
            <a:normAutofit/>
          </a:bodyPr>
          <a:lstStyle/>
          <a:p>
            <a:pPr marL="0" indent="0" algn="ctr">
              <a:buNone/>
            </a:pPr>
            <a:r>
              <a:rPr lang="en-US" sz="1500" b="1" dirty="0">
                <a:solidFill>
                  <a:srgbClr val="F2994A"/>
                </a:solidFill>
                <a:latin typeface="Aptos" pitchFamily="34" charset="0"/>
                <a:ea typeface="Aptos" pitchFamily="34" charset="-122"/>
                <a:cs typeface="Aptos" pitchFamily="34" charset="-120"/>
              </a:rPr>
              <a:t>Inputs available before upload</a:t>
            </a:r>
            <a:endParaRPr lang="en-US" sz="1500" dirty="0"/>
          </a:p>
        </p:txBody>
      </p:sp>
      <p:sp>
        <p:nvSpPr>
          <p:cNvPr id="25" name="Shape 9">
            <a:extLst>
              <a:ext uri="{FF2B5EF4-FFF2-40B4-BE49-F238E27FC236}">
                <a16:creationId xmlns:a16="http://schemas.microsoft.com/office/drawing/2014/main" id="{4F736FAD-65E6-2BA9-F0C5-130895C218ED}"/>
              </a:ext>
            </a:extLst>
          </p:cNvPr>
          <p:cNvSpPr/>
          <p:nvPr/>
        </p:nvSpPr>
        <p:spPr>
          <a:xfrm>
            <a:off x="460306" y="3575304"/>
            <a:ext cx="3063240" cy="685800"/>
          </a:xfrm>
          <a:prstGeom prst="roundRect">
            <a:avLst>
              <a:gd name="adj" fmla="val 10667"/>
            </a:avLst>
          </a:prstGeom>
          <a:solidFill>
            <a:srgbClr val="FFFFFF"/>
          </a:solidFill>
          <a:ln w="7620">
            <a:solidFill>
              <a:srgbClr val="D1D5DB"/>
            </a:solidFill>
            <a:prstDash val="solid"/>
          </a:ln>
        </p:spPr>
      </p:sp>
      <p:sp>
        <p:nvSpPr>
          <p:cNvPr id="26" name="Shape 10">
            <a:extLst>
              <a:ext uri="{FF2B5EF4-FFF2-40B4-BE49-F238E27FC236}">
                <a16:creationId xmlns:a16="http://schemas.microsoft.com/office/drawing/2014/main" id="{52826DCF-A123-F98D-655B-A4F04E5089DD}"/>
              </a:ext>
            </a:extLst>
          </p:cNvPr>
          <p:cNvSpPr/>
          <p:nvPr/>
        </p:nvSpPr>
        <p:spPr>
          <a:xfrm>
            <a:off x="460306" y="3575304"/>
            <a:ext cx="73152" cy="685800"/>
          </a:xfrm>
          <a:prstGeom prst="rect">
            <a:avLst/>
          </a:prstGeom>
          <a:solidFill>
            <a:srgbClr val="F2994A"/>
          </a:solidFill>
          <a:ln w="12700">
            <a:solidFill>
              <a:srgbClr val="F2994A">
                <a:alpha val="0"/>
              </a:srgbClr>
            </a:solidFill>
            <a:prstDash val="solid"/>
          </a:ln>
        </p:spPr>
      </p:sp>
      <mc:AlternateContent xmlns:mc="http://schemas.openxmlformats.org/markup-compatibility/2006">
        <mc:Choice xmlns:a14="http://schemas.microsoft.com/office/drawing/2010/main" Requires="a14">
          <p:sp>
            <p:nvSpPr>
              <p:cNvPr id="27" name="Text 11">
                <a:extLst>
                  <a:ext uri="{FF2B5EF4-FFF2-40B4-BE49-F238E27FC236}">
                    <a16:creationId xmlns:a16="http://schemas.microsoft.com/office/drawing/2014/main" id="{FCE6F01C-284B-AC9C-B9F2-FFEC0B110D03}"/>
                  </a:ext>
                </a:extLst>
              </p:cNvPr>
              <p:cNvSpPr/>
              <p:nvPr/>
            </p:nvSpPr>
            <p:spPr>
              <a:xfrm>
                <a:off x="624898" y="3623310"/>
                <a:ext cx="2788920" cy="210312"/>
              </a:xfrm>
              <a:prstGeom prst="rect">
                <a:avLst/>
              </a:prstGeom>
              <a:noFill/>
              <a:ln/>
            </p:spPr>
            <p:txBody>
              <a:bodyPr wrap="square" lIns="254" tIns="254" rIns="254" bIns="254" rtlCol="0" anchor="ctr"/>
              <a:lstStyle/>
              <a:p>
                <a:r>
                  <a:rPr lang="en-US" sz="1050" b="1" dirty="0">
                    <a:solidFill>
                      <a:srgbClr val="0B1F3A"/>
                    </a:solidFill>
                  </a:rPr>
                  <a:t>JPEG size </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𝐿</m:t>
                        </m:r>
                      </m:e>
                      <m:sub>
                        <m:r>
                          <a:rPr lang="en-US" altLang="zh-CN" sz="1100" i="1">
                            <a:latin typeface="Cambria Math" panose="02040503050406030204" pitchFamily="18" charset="0"/>
                          </a:rPr>
                          <m:t>𝑖</m:t>
                        </m:r>
                      </m:sub>
                    </m:sSub>
                  </m:oMath>
                </a14:m>
                <a:endParaRPr lang="en-US" sz="1050" dirty="0"/>
              </a:p>
            </p:txBody>
          </p:sp>
        </mc:Choice>
        <mc:Fallback>
          <p:sp>
            <p:nvSpPr>
              <p:cNvPr id="27" name="Text 11">
                <a:extLst>
                  <a:ext uri="{FF2B5EF4-FFF2-40B4-BE49-F238E27FC236}">
                    <a16:creationId xmlns:a16="http://schemas.microsoft.com/office/drawing/2014/main" id="{FCE6F01C-284B-AC9C-B9F2-FFEC0B110D03}"/>
                  </a:ext>
                </a:extLst>
              </p:cNvPr>
              <p:cNvSpPr>
                <a:spLocks noRot="1" noChangeAspect="1" noMove="1" noResize="1" noEditPoints="1" noAdjustHandles="1" noChangeArrowheads="1" noChangeShapeType="1" noTextEdit="1"/>
              </p:cNvSpPr>
              <p:nvPr/>
            </p:nvSpPr>
            <p:spPr>
              <a:xfrm>
                <a:off x="624898" y="3623310"/>
                <a:ext cx="2788920" cy="210312"/>
              </a:xfrm>
              <a:prstGeom prst="rect">
                <a:avLst/>
              </a:prstGeom>
              <a:blipFill>
                <a:blip r:embed="rId4"/>
                <a:stretch>
                  <a:fillRect l="-3063" t="-5714" b="-25714"/>
                </a:stretch>
              </a:blipFill>
              <a:ln/>
            </p:spPr>
            <p:txBody>
              <a:bodyPr/>
              <a:lstStyle/>
              <a:p>
                <a:r>
                  <a:rPr lang="zh-CN" altLang="en-US">
                    <a:noFill/>
                  </a:rPr>
                  <a:t> </a:t>
                </a:r>
              </a:p>
            </p:txBody>
          </p:sp>
        </mc:Fallback>
      </mc:AlternateContent>
      <p:sp>
        <p:nvSpPr>
          <p:cNvPr id="28" name="Text 12">
            <a:extLst>
              <a:ext uri="{FF2B5EF4-FFF2-40B4-BE49-F238E27FC236}">
                <a16:creationId xmlns:a16="http://schemas.microsoft.com/office/drawing/2014/main" id="{8873FD14-C100-3A4B-9D15-E13D689B2868}"/>
              </a:ext>
            </a:extLst>
          </p:cNvPr>
          <p:cNvSpPr/>
          <p:nvPr/>
        </p:nvSpPr>
        <p:spPr>
          <a:xfrm>
            <a:off x="624898" y="3893058"/>
            <a:ext cx="2788920" cy="228600"/>
          </a:xfrm>
          <a:prstGeom prst="rect">
            <a:avLst/>
          </a:prstGeom>
          <a:noFill/>
          <a:ln/>
        </p:spPr>
        <p:txBody>
          <a:bodyPr wrap="square" lIns="254" tIns="254" rIns="254" bIns="254" rtlCol="0" anchor="ctr">
            <a:noAutofit/>
          </a:bodyPr>
          <a:lstStyle/>
          <a:p>
            <a:pPr marL="0" indent="0">
              <a:buNone/>
            </a:pPr>
            <a:r>
              <a:rPr lang="en-US" sz="1200" dirty="0">
                <a:solidFill>
                  <a:srgbClr val="374151"/>
                </a:solidFill>
              </a:rPr>
              <a:t>Known after encoding; affects upload time and may correlate with image complexity.</a:t>
            </a:r>
            <a:endParaRPr lang="en-US" sz="1200" dirty="0"/>
          </a:p>
        </p:txBody>
      </p:sp>
      <p:sp>
        <p:nvSpPr>
          <p:cNvPr id="29" name="Shape 13">
            <a:extLst>
              <a:ext uri="{FF2B5EF4-FFF2-40B4-BE49-F238E27FC236}">
                <a16:creationId xmlns:a16="http://schemas.microsoft.com/office/drawing/2014/main" id="{46A3C5AE-821A-17FC-1F51-2B66A3F0D495}"/>
              </a:ext>
            </a:extLst>
          </p:cNvPr>
          <p:cNvSpPr/>
          <p:nvPr/>
        </p:nvSpPr>
        <p:spPr>
          <a:xfrm>
            <a:off x="460306" y="4352544"/>
            <a:ext cx="3063240" cy="685800"/>
          </a:xfrm>
          <a:prstGeom prst="roundRect">
            <a:avLst>
              <a:gd name="adj" fmla="val 10667"/>
            </a:avLst>
          </a:prstGeom>
          <a:solidFill>
            <a:srgbClr val="FFFFFF"/>
          </a:solidFill>
          <a:ln w="7620">
            <a:solidFill>
              <a:srgbClr val="D1D5DB"/>
            </a:solidFill>
            <a:prstDash val="solid"/>
          </a:ln>
        </p:spPr>
      </p:sp>
      <p:sp>
        <p:nvSpPr>
          <p:cNvPr id="30" name="Shape 14">
            <a:extLst>
              <a:ext uri="{FF2B5EF4-FFF2-40B4-BE49-F238E27FC236}">
                <a16:creationId xmlns:a16="http://schemas.microsoft.com/office/drawing/2014/main" id="{00BC6965-47CE-C492-373E-F8F498D73417}"/>
              </a:ext>
            </a:extLst>
          </p:cNvPr>
          <p:cNvSpPr/>
          <p:nvPr/>
        </p:nvSpPr>
        <p:spPr>
          <a:xfrm>
            <a:off x="460306" y="4352544"/>
            <a:ext cx="73152" cy="685800"/>
          </a:xfrm>
          <a:prstGeom prst="rect">
            <a:avLst/>
          </a:prstGeom>
          <a:solidFill>
            <a:srgbClr val="F2994A"/>
          </a:solidFill>
          <a:ln w="12700">
            <a:solidFill>
              <a:srgbClr val="F2994A">
                <a:alpha val="0"/>
              </a:srgbClr>
            </a:solidFill>
            <a:prstDash val="solid"/>
          </a:ln>
        </p:spPr>
      </p:sp>
      <mc:AlternateContent xmlns:mc="http://schemas.openxmlformats.org/markup-compatibility/2006">
        <mc:Choice xmlns:a14="http://schemas.microsoft.com/office/drawing/2010/main" Requires="a14">
          <p:sp>
            <p:nvSpPr>
              <p:cNvPr id="31" name="Text 15">
                <a:extLst>
                  <a:ext uri="{FF2B5EF4-FFF2-40B4-BE49-F238E27FC236}">
                    <a16:creationId xmlns:a16="http://schemas.microsoft.com/office/drawing/2014/main" id="{CBDF22C8-7B44-0373-7F8C-C6783667034D}"/>
                  </a:ext>
                </a:extLst>
              </p:cNvPr>
              <p:cNvSpPr/>
              <p:nvPr/>
            </p:nvSpPr>
            <p:spPr>
              <a:xfrm>
                <a:off x="624898" y="4390519"/>
                <a:ext cx="2788920" cy="210312"/>
              </a:xfrm>
              <a:prstGeom prst="rect">
                <a:avLst/>
              </a:prstGeom>
              <a:noFill/>
              <a:ln/>
            </p:spPr>
            <p:txBody>
              <a:bodyPr wrap="square" lIns="254" tIns="254" rIns="254" bIns="254" rtlCol="0" anchor="ctr"/>
              <a:lstStyle/>
              <a:p>
                <a:pPr marL="0" indent="0">
                  <a:buNone/>
                </a:pPr>
                <a:r>
                  <a:rPr lang="en-US" sz="1050" b="1" dirty="0">
                    <a:solidFill>
                      <a:srgbClr val="0B1F3A"/>
                    </a:solidFill>
                  </a:rPr>
                  <a:t>CPU utilization </a:t>
                </a:r>
                <a14:m>
                  <m:oMath xmlns:m="http://schemas.openxmlformats.org/officeDocument/2006/math">
                    <m:sSubSup>
                      <m:sSubSupPr>
                        <m:ctrlPr>
                          <a:rPr lang="en-US" altLang="zh-CN" sz="1050" b="0" i="1" smtClean="0">
                            <a:solidFill>
                              <a:srgbClr val="0B1F3A"/>
                            </a:solidFill>
                            <a:latin typeface="Cambria Math" panose="02040503050406030204" pitchFamily="18" charset="0"/>
                          </a:rPr>
                        </m:ctrlPr>
                      </m:sSubSupPr>
                      <m:e>
                        <m:r>
                          <a:rPr lang="en-US" altLang="zh-CN" sz="1050" b="0" i="1" smtClean="0">
                            <a:solidFill>
                              <a:srgbClr val="0B1F3A"/>
                            </a:solidFill>
                            <a:latin typeface="Cambria Math" panose="02040503050406030204" pitchFamily="18" charset="0"/>
                          </a:rPr>
                          <m:t>𝑈</m:t>
                        </m:r>
                      </m:e>
                      <m:sub>
                        <m:r>
                          <a:rPr lang="en-US" altLang="zh-CN" sz="1050" b="0" i="1" smtClean="0">
                            <a:solidFill>
                              <a:srgbClr val="0B1F3A"/>
                            </a:solidFill>
                            <a:latin typeface="Cambria Math" panose="02040503050406030204" pitchFamily="18" charset="0"/>
                          </a:rPr>
                          <m:t>𝑖</m:t>
                        </m:r>
                      </m:sub>
                      <m:sup>
                        <m:r>
                          <a:rPr lang="en-US" altLang="zh-CN" sz="1050" b="0" i="1" smtClean="0">
                            <a:solidFill>
                              <a:srgbClr val="0B1F3A"/>
                            </a:solidFill>
                            <a:latin typeface="Cambria Math" panose="02040503050406030204" pitchFamily="18" charset="0"/>
                          </a:rPr>
                          <m:t>𝐶𝑃𝑈</m:t>
                        </m:r>
                      </m:sup>
                    </m:sSubSup>
                  </m:oMath>
                </a14:m>
                <a:endParaRPr lang="en-US" sz="1050" dirty="0"/>
              </a:p>
            </p:txBody>
          </p:sp>
        </mc:Choice>
        <mc:Fallback>
          <p:sp>
            <p:nvSpPr>
              <p:cNvPr id="31" name="Text 15">
                <a:extLst>
                  <a:ext uri="{FF2B5EF4-FFF2-40B4-BE49-F238E27FC236}">
                    <a16:creationId xmlns:a16="http://schemas.microsoft.com/office/drawing/2014/main" id="{CBDF22C8-7B44-0373-7F8C-C6783667034D}"/>
                  </a:ext>
                </a:extLst>
              </p:cNvPr>
              <p:cNvSpPr>
                <a:spLocks noRot="1" noChangeAspect="1" noMove="1" noResize="1" noEditPoints="1" noAdjustHandles="1" noChangeArrowheads="1" noChangeShapeType="1" noTextEdit="1"/>
              </p:cNvSpPr>
              <p:nvPr/>
            </p:nvSpPr>
            <p:spPr>
              <a:xfrm>
                <a:off x="624898" y="4390519"/>
                <a:ext cx="2788920" cy="210312"/>
              </a:xfrm>
              <a:prstGeom prst="rect">
                <a:avLst/>
              </a:prstGeom>
              <a:blipFill>
                <a:blip r:embed="rId5"/>
                <a:stretch>
                  <a:fillRect l="-3063" t="-5714" b="-28571"/>
                </a:stretch>
              </a:blipFill>
              <a:ln/>
            </p:spPr>
            <p:txBody>
              <a:bodyPr/>
              <a:lstStyle/>
              <a:p>
                <a:r>
                  <a:rPr lang="zh-CN" altLang="en-US">
                    <a:noFill/>
                  </a:rPr>
                  <a:t> </a:t>
                </a:r>
              </a:p>
            </p:txBody>
          </p:sp>
        </mc:Fallback>
      </mc:AlternateContent>
      <p:sp>
        <p:nvSpPr>
          <p:cNvPr id="32" name="Text 16">
            <a:extLst>
              <a:ext uri="{FF2B5EF4-FFF2-40B4-BE49-F238E27FC236}">
                <a16:creationId xmlns:a16="http://schemas.microsoft.com/office/drawing/2014/main" id="{C6CC0FD4-DB7C-BCBA-A207-198E9FAE85F2}"/>
              </a:ext>
            </a:extLst>
          </p:cNvPr>
          <p:cNvSpPr/>
          <p:nvPr/>
        </p:nvSpPr>
        <p:spPr>
          <a:xfrm>
            <a:off x="624898" y="4680348"/>
            <a:ext cx="2788920" cy="228600"/>
          </a:xfrm>
          <a:prstGeom prst="rect">
            <a:avLst/>
          </a:prstGeom>
          <a:noFill/>
          <a:ln/>
        </p:spPr>
        <p:txBody>
          <a:bodyPr wrap="square" lIns="254" tIns="254" rIns="254" bIns="254" rtlCol="0" anchor="ctr">
            <a:noAutofit/>
          </a:bodyPr>
          <a:lstStyle/>
          <a:p>
            <a:pPr marL="0" indent="0">
              <a:buNone/>
            </a:pPr>
            <a:r>
              <a:rPr lang="en-US" sz="1200" dirty="0">
                <a:solidFill>
                  <a:srgbClr val="374151"/>
                </a:solidFill>
              </a:rPr>
              <a:t>Measured at laptop when verification request arrives.</a:t>
            </a:r>
            <a:endParaRPr lang="en-US" sz="1200" dirty="0"/>
          </a:p>
        </p:txBody>
      </p:sp>
      <p:sp>
        <p:nvSpPr>
          <p:cNvPr id="33" name="Shape 17">
            <a:extLst>
              <a:ext uri="{FF2B5EF4-FFF2-40B4-BE49-F238E27FC236}">
                <a16:creationId xmlns:a16="http://schemas.microsoft.com/office/drawing/2014/main" id="{5C2EDBD6-F984-F79E-52D5-E6FE7BBFEDF0}"/>
              </a:ext>
            </a:extLst>
          </p:cNvPr>
          <p:cNvSpPr/>
          <p:nvPr/>
        </p:nvSpPr>
        <p:spPr>
          <a:xfrm>
            <a:off x="460306" y="5129784"/>
            <a:ext cx="3063240" cy="713232"/>
          </a:xfrm>
          <a:prstGeom prst="roundRect">
            <a:avLst>
              <a:gd name="adj" fmla="val 10256"/>
            </a:avLst>
          </a:prstGeom>
          <a:solidFill>
            <a:srgbClr val="FFFFFF"/>
          </a:solidFill>
          <a:ln w="7620">
            <a:solidFill>
              <a:srgbClr val="D1D5DB"/>
            </a:solidFill>
            <a:prstDash val="solid"/>
          </a:ln>
        </p:spPr>
      </p:sp>
      <p:sp>
        <p:nvSpPr>
          <p:cNvPr id="34" name="Shape 18">
            <a:extLst>
              <a:ext uri="{FF2B5EF4-FFF2-40B4-BE49-F238E27FC236}">
                <a16:creationId xmlns:a16="http://schemas.microsoft.com/office/drawing/2014/main" id="{6AA942B1-867B-FC25-FE6E-819163C5A720}"/>
              </a:ext>
            </a:extLst>
          </p:cNvPr>
          <p:cNvSpPr/>
          <p:nvPr/>
        </p:nvSpPr>
        <p:spPr>
          <a:xfrm>
            <a:off x="460306" y="5129784"/>
            <a:ext cx="73152" cy="713232"/>
          </a:xfrm>
          <a:prstGeom prst="rect">
            <a:avLst/>
          </a:prstGeom>
          <a:solidFill>
            <a:srgbClr val="F2994A"/>
          </a:solidFill>
          <a:ln w="12700">
            <a:solidFill>
              <a:srgbClr val="F2994A">
                <a:alpha val="0"/>
              </a:srgbClr>
            </a:solidFill>
            <a:prstDash val="solid"/>
          </a:ln>
        </p:spPr>
      </p:sp>
      <p:sp>
        <p:nvSpPr>
          <p:cNvPr id="35" name="Text 19">
            <a:extLst>
              <a:ext uri="{FF2B5EF4-FFF2-40B4-BE49-F238E27FC236}">
                <a16:creationId xmlns:a16="http://schemas.microsoft.com/office/drawing/2014/main" id="{AFE4446B-DBEF-5217-64C3-3F5A36470167}"/>
              </a:ext>
            </a:extLst>
          </p:cNvPr>
          <p:cNvSpPr/>
          <p:nvPr/>
        </p:nvSpPr>
        <p:spPr>
          <a:xfrm>
            <a:off x="624898" y="5198364"/>
            <a:ext cx="2788920" cy="210312"/>
          </a:xfrm>
          <a:prstGeom prst="rect">
            <a:avLst/>
          </a:prstGeom>
          <a:noFill/>
          <a:ln/>
        </p:spPr>
        <p:txBody>
          <a:bodyPr wrap="square" lIns="254" tIns="254" rIns="254" bIns="254" rtlCol="0" anchor="ctr"/>
          <a:lstStyle/>
          <a:p>
            <a:pPr marL="0" indent="0">
              <a:buNone/>
            </a:pPr>
            <a:r>
              <a:rPr lang="en-US" sz="1050" b="1" dirty="0">
                <a:solidFill>
                  <a:srgbClr val="0B1F3A"/>
                </a:solidFill>
              </a:rPr>
              <a:t>Previous VLM latency</a:t>
            </a:r>
            <a:endParaRPr lang="en-US" sz="1050" dirty="0"/>
          </a:p>
        </p:txBody>
      </p:sp>
      <p:sp>
        <p:nvSpPr>
          <p:cNvPr id="36" name="Text 20">
            <a:extLst>
              <a:ext uri="{FF2B5EF4-FFF2-40B4-BE49-F238E27FC236}">
                <a16:creationId xmlns:a16="http://schemas.microsoft.com/office/drawing/2014/main" id="{7623ED84-1569-D438-23C7-F89DAE4B7EB8}"/>
              </a:ext>
            </a:extLst>
          </p:cNvPr>
          <p:cNvSpPr/>
          <p:nvPr/>
        </p:nvSpPr>
        <p:spPr>
          <a:xfrm>
            <a:off x="624898" y="5513832"/>
            <a:ext cx="2990088" cy="256032"/>
          </a:xfrm>
          <a:prstGeom prst="rect">
            <a:avLst/>
          </a:prstGeom>
          <a:noFill/>
          <a:ln/>
        </p:spPr>
        <p:txBody>
          <a:bodyPr wrap="square" lIns="254" tIns="254" rIns="254" bIns="254" rtlCol="0" anchor="ctr">
            <a:noAutofit/>
          </a:bodyPr>
          <a:lstStyle/>
          <a:p>
            <a:pPr marL="0" indent="0">
              <a:buNone/>
            </a:pPr>
            <a:r>
              <a:rPr lang="en-US" sz="1200" dirty="0">
                <a:solidFill>
                  <a:srgbClr val="374151"/>
                </a:solidFill>
              </a:rPr>
              <a:t>Recent latency captures warm-up, CPU contention, and model execution variation.</a:t>
            </a:r>
            <a:endParaRPr lang="en-US" sz="1200" dirty="0"/>
          </a:p>
        </p:txBody>
      </p:sp>
      <mc:AlternateContent xmlns:mc="http://schemas.openxmlformats.org/markup-compatibility/2006">
        <mc:Choice xmlns:a14="http://schemas.microsoft.com/office/drawing/2010/main" Requires="a14">
          <p:sp>
            <p:nvSpPr>
              <p:cNvPr id="37" name="Text 21">
                <a:extLst>
                  <a:ext uri="{FF2B5EF4-FFF2-40B4-BE49-F238E27FC236}">
                    <a16:creationId xmlns:a16="http://schemas.microsoft.com/office/drawing/2014/main" id="{902EFBDA-4DFC-5550-5C5F-2445DF82C32C}"/>
                  </a:ext>
                </a:extLst>
              </p:cNvPr>
              <p:cNvSpPr/>
              <p:nvPr/>
            </p:nvSpPr>
            <p:spPr>
              <a:xfrm>
                <a:off x="460306" y="6044184"/>
                <a:ext cx="3063240" cy="457200"/>
              </a:xfrm>
              <a:prstGeom prst="rect">
                <a:avLst/>
              </a:prstGeom>
              <a:solidFill>
                <a:srgbClr val="FFFFFF"/>
              </a:solidFill>
              <a:ln w="12700">
                <a:solidFill>
                  <a:srgbClr val="F2994A"/>
                </a:solidFill>
              </a:ln>
            </p:spPr>
            <p:txBody>
              <a:bodyPr wrap="square" lIns="508" tIns="508" rIns="508" bIns="508" rtlCol="0" anchor="ctr">
                <a:normAutofit/>
              </a:bodyPr>
              <a:lstStyle/>
              <a:p>
                <a:pPr algn="ctr"/>
                <a14:m>
                  <m:oMath xmlns:m="http://schemas.openxmlformats.org/officeDocument/2006/math">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𝑍</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 </m:t>
                    </m:r>
                  </m:oMath>
                </a14:m>
                <a:r>
                  <a:rPr lang="en-US" sz="1300" dirty="0">
                    <a:solidFill>
                      <a:srgbClr val="0B1F3A"/>
                    </a:solidFill>
                    <a:latin typeface="Cambria Math" pitchFamily="34" charset="0"/>
                    <a:ea typeface="Cambria Math" pitchFamily="34" charset="-122"/>
                    <a:cs typeface="Cambria Math" pitchFamily="34" charset="-120"/>
                  </a:rPr>
                  <a:t>=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𝐿</m:t>
                        </m:r>
                      </m:e>
                      <m:sub>
                        <m:r>
                          <a:rPr lang="en-US" altLang="zh-CN" sz="1400" i="1">
                            <a:latin typeface="Cambria Math" panose="02040503050406030204" pitchFamily="18" charset="0"/>
                          </a:rPr>
                          <m:t>𝑖</m:t>
                        </m:r>
                      </m:sub>
                    </m:sSub>
                  </m:oMath>
                </a14:m>
                <a:r>
                  <a:rPr lang="en-US" sz="1300" dirty="0">
                    <a:solidFill>
                      <a:srgbClr val="0B1F3A"/>
                    </a:solidFill>
                    <a:latin typeface="Cambria Math" pitchFamily="34" charset="0"/>
                    <a:ea typeface="Cambria Math" pitchFamily="34" charset="-122"/>
                    <a:cs typeface="Cambria Math" pitchFamily="34" charset="-120"/>
                  </a:rPr>
                  <a:t>, </a:t>
                </a:r>
                <a14:m>
                  <m:oMath xmlns:m="http://schemas.openxmlformats.org/officeDocument/2006/math">
                    <m:sSubSup>
                      <m:sSubSupPr>
                        <m:ctrlPr>
                          <a:rPr lang="en-US" altLang="zh-CN" sz="1400" b="0" i="1">
                            <a:solidFill>
                              <a:srgbClr val="0B1F3A"/>
                            </a:solidFill>
                            <a:latin typeface="Cambria Math" panose="02040503050406030204" pitchFamily="18" charset="0"/>
                          </a:rPr>
                        </m:ctrlPr>
                      </m:sSubSupPr>
                      <m:e>
                        <m:r>
                          <a:rPr lang="en-US" altLang="zh-CN" sz="1400" b="0" i="1">
                            <a:solidFill>
                              <a:srgbClr val="0B1F3A"/>
                            </a:solidFill>
                            <a:latin typeface="Cambria Math" panose="02040503050406030204" pitchFamily="18" charset="0"/>
                          </a:rPr>
                          <m:t>𝑈</m:t>
                        </m:r>
                      </m:e>
                      <m:sub>
                        <m:r>
                          <a:rPr lang="en-US" altLang="zh-CN" sz="1400" b="0" i="1">
                            <a:solidFill>
                              <a:srgbClr val="0B1F3A"/>
                            </a:solidFill>
                            <a:latin typeface="Cambria Math" panose="02040503050406030204" pitchFamily="18" charset="0"/>
                          </a:rPr>
                          <m:t>𝑖</m:t>
                        </m:r>
                      </m:sub>
                      <m:sup>
                        <m:r>
                          <a:rPr lang="en-US" altLang="zh-CN" sz="1400" b="0" i="1">
                            <a:solidFill>
                              <a:srgbClr val="0B1F3A"/>
                            </a:solidFill>
                            <a:latin typeface="Cambria Math" panose="02040503050406030204" pitchFamily="18" charset="0"/>
                          </a:rPr>
                          <m:t>𝐶𝑃𝑈</m:t>
                        </m:r>
                      </m:sup>
                    </m:sSubSup>
                  </m:oMath>
                </a14:m>
                <a:r>
                  <a:rPr lang="en-US" sz="1300" dirty="0">
                    <a:solidFill>
                      <a:srgbClr val="0B1F3A"/>
                    </a:solidFill>
                    <a:latin typeface="Cambria Math" pitchFamily="34" charset="0"/>
                    <a:ea typeface="Cambria Math" pitchFamily="34" charset="-122"/>
                    <a:cs typeface="Cambria Math" pitchFamily="34" charset="-120"/>
                  </a:rPr>
                  <a:t>, </a:t>
                </a:r>
                <a14:m>
                  <m:oMath xmlns:m="http://schemas.openxmlformats.org/officeDocument/2006/math">
                    <m:sSubSup>
                      <m:sSubSupPr>
                        <m:ctrlPr>
                          <a:rPr lang="en-US" altLang="zh-CN" sz="1200" b="0" i="1" smtClean="0">
                            <a:solidFill>
                              <a:srgbClr val="0B1F3A"/>
                            </a:solidFill>
                            <a:latin typeface="Cambria Math" panose="02040503050406030204" pitchFamily="18" charset="0"/>
                          </a:rPr>
                        </m:ctrlPr>
                      </m:sSubSupPr>
                      <m:e>
                        <m:r>
                          <a:rPr lang="en-US" altLang="zh-CN" sz="1200" b="0" i="1" smtClean="0">
                            <a:solidFill>
                              <a:srgbClr val="0B1F3A"/>
                            </a:solidFill>
                            <a:latin typeface="Cambria Math" panose="02040503050406030204" pitchFamily="18" charset="0"/>
                          </a:rPr>
                          <m:t>𝑇</m:t>
                        </m:r>
                      </m:e>
                      <m:sub>
                        <m:r>
                          <a:rPr lang="en-US" altLang="zh-CN" sz="1200" i="1">
                            <a:solidFill>
                              <a:srgbClr val="0B1F3A"/>
                            </a:solidFill>
                            <a:latin typeface="Cambria Math" panose="02040503050406030204" pitchFamily="18" charset="0"/>
                          </a:rPr>
                          <m:t>𝑖</m:t>
                        </m:r>
                        <m:r>
                          <a:rPr lang="en-US" altLang="zh-CN" sz="1200" b="0" i="1" smtClean="0">
                            <a:solidFill>
                              <a:srgbClr val="0B1F3A"/>
                            </a:solidFill>
                            <a:latin typeface="Cambria Math" panose="02040503050406030204" pitchFamily="18" charset="0"/>
                          </a:rPr>
                          <m:t>−1</m:t>
                        </m:r>
                      </m:sub>
                      <m:sup>
                        <m:r>
                          <a:rPr lang="en-US" altLang="zh-CN" sz="1200" b="0" i="1" smtClean="0">
                            <a:solidFill>
                              <a:srgbClr val="0B1F3A"/>
                            </a:solidFill>
                            <a:latin typeface="Cambria Math" panose="02040503050406030204" pitchFamily="18" charset="0"/>
                          </a:rPr>
                          <m:t>𝑉𝐿𝑀</m:t>
                        </m:r>
                      </m:sup>
                    </m:sSubSup>
                  </m:oMath>
                </a14:m>
                <a:r>
                  <a:rPr lang="en-US" sz="1300" dirty="0">
                    <a:solidFill>
                      <a:srgbClr val="0B1F3A"/>
                    </a:solidFill>
                    <a:latin typeface="Cambria Math" pitchFamily="34" charset="0"/>
                    <a:ea typeface="Cambria Math" pitchFamily="34" charset="-122"/>
                    <a:cs typeface="Cambria Math" pitchFamily="34" charset="-120"/>
                  </a:rPr>
                  <a:t>]</a:t>
                </a:r>
                <a:endParaRPr lang="en-US" sz="1300" dirty="0"/>
              </a:p>
            </p:txBody>
          </p:sp>
        </mc:Choice>
        <mc:Fallback>
          <p:sp>
            <p:nvSpPr>
              <p:cNvPr id="37" name="Text 21">
                <a:extLst>
                  <a:ext uri="{FF2B5EF4-FFF2-40B4-BE49-F238E27FC236}">
                    <a16:creationId xmlns:a16="http://schemas.microsoft.com/office/drawing/2014/main" id="{902EFBDA-4DFC-5550-5C5F-2445DF82C32C}"/>
                  </a:ext>
                </a:extLst>
              </p:cNvPr>
              <p:cNvSpPr>
                <a:spLocks noRot="1" noChangeAspect="1" noMove="1" noResize="1" noEditPoints="1" noAdjustHandles="1" noChangeArrowheads="1" noChangeShapeType="1" noTextEdit="1"/>
              </p:cNvSpPr>
              <p:nvPr/>
            </p:nvSpPr>
            <p:spPr>
              <a:xfrm>
                <a:off x="460306" y="6044184"/>
                <a:ext cx="3063240" cy="457200"/>
              </a:xfrm>
              <a:prstGeom prst="rect">
                <a:avLst/>
              </a:prstGeom>
              <a:blipFill>
                <a:blip r:embed="rId6"/>
                <a:stretch>
                  <a:fillRect/>
                </a:stretch>
              </a:blipFill>
              <a:ln w="12700">
                <a:solidFill>
                  <a:srgbClr val="F2994A"/>
                </a:solidFill>
              </a:ln>
            </p:spPr>
            <p:txBody>
              <a:bodyPr/>
              <a:lstStyle/>
              <a:p>
                <a:r>
                  <a:rPr lang="zh-CN" altLang="en-US">
                    <a:noFill/>
                  </a:rPr>
                  <a:t> </a:t>
                </a:r>
              </a:p>
            </p:txBody>
          </p:sp>
        </mc:Fallback>
      </mc:AlternateContent>
      <p:sp>
        <p:nvSpPr>
          <p:cNvPr id="38" name="Shape 22">
            <a:extLst>
              <a:ext uri="{FF2B5EF4-FFF2-40B4-BE49-F238E27FC236}">
                <a16:creationId xmlns:a16="http://schemas.microsoft.com/office/drawing/2014/main" id="{5FE19D17-5016-201D-DD73-7D4552314E9B}"/>
              </a:ext>
            </a:extLst>
          </p:cNvPr>
          <p:cNvSpPr/>
          <p:nvPr/>
        </p:nvSpPr>
        <p:spPr>
          <a:xfrm>
            <a:off x="4163626" y="2843784"/>
            <a:ext cx="2743200" cy="3736448"/>
          </a:xfrm>
          <a:prstGeom prst="roundRect">
            <a:avLst>
              <a:gd name="adj" fmla="val 2667"/>
            </a:avLst>
          </a:prstGeom>
          <a:solidFill>
            <a:srgbClr val="F0EDFF"/>
          </a:solidFill>
          <a:ln w="7620">
            <a:solidFill>
              <a:srgbClr val="7B61FF"/>
            </a:solidFill>
            <a:prstDash val="solid"/>
          </a:ln>
        </p:spPr>
      </p:sp>
      <p:sp>
        <p:nvSpPr>
          <p:cNvPr id="39" name="Text 23">
            <a:extLst>
              <a:ext uri="{FF2B5EF4-FFF2-40B4-BE49-F238E27FC236}">
                <a16:creationId xmlns:a16="http://schemas.microsoft.com/office/drawing/2014/main" id="{B4D0E4CB-2E8F-A4C2-9188-93FCAA9EF1BC}"/>
              </a:ext>
            </a:extLst>
          </p:cNvPr>
          <p:cNvSpPr/>
          <p:nvPr/>
        </p:nvSpPr>
        <p:spPr>
          <a:xfrm>
            <a:off x="4483666" y="3090672"/>
            <a:ext cx="2103120" cy="320040"/>
          </a:xfrm>
          <a:prstGeom prst="rect">
            <a:avLst/>
          </a:prstGeom>
          <a:noFill/>
          <a:ln/>
        </p:spPr>
        <p:txBody>
          <a:bodyPr wrap="square" lIns="635" tIns="635" rIns="635" bIns="635" rtlCol="0" anchor="t">
            <a:normAutofit/>
          </a:bodyPr>
          <a:lstStyle/>
          <a:p>
            <a:pPr marL="0" indent="0" algn="ctr">
              <a:buNone/>
            </a:pPr>
            <a:r>
              <a:rPr lang="en-US" sz="1500" b="1" dirty="0">
                <a:solidFill>
                  <a:srgbClr val="7B61FF"/>
                </a:solidFill>
                <a:latin typeface="Aptos" pitchFamily="34" charset="0"/>
                <a:ea typeface="Aptos" pitchFamily="34" charset="-122"/>
                <a:cs typeface="Aptos" pitchFamily="34" charset="-120"/>
              </a:rPr>
              <a:t>Predictor</a:t>
            </a:r>
            <a:endParaRPr lang="en-US" sz="1500" dirty="0"/>
          </a:p>
        </p:txBody>
      </p:sp>
      <p:sp>
        <p:nvSpPr>
          <p:cNvPr id="40" name="Shape 24">
            <a:extLst>
              <a:ext uri="{FF2B5EF4-FFF2-40B4-BE49-F238E27FC236}">
                <a16:creationId xmlns:a16="http://schemas.microsoft.com/office/drawing/2014/main" id="{F5BCBBA6-66C9-D43C-7D2F-A58FFC1F7CD5}"/>
              </a:ext>
            </a:extLst>
          </p:cNvPr>
          <p:cNvSpPr/>
          <p:nvPr/>
        </p:nvSpPr>
        <p:spPr>
          <a:xfrm>
            <a:off x="4666546" y="3803904"/>
            <a:ext cx="1737360" cy="822960"/>
          </a:xfrm>
          <a:prstGeom prst="roundRect">
            <a:avLst>
              <a:gd name="adj" fmla="val 8889"/>
            </a:avLst>
          </a:prstGeom>
          <a:solidFill>
            <a:srgbClr val="FFFFFF"/>
          </a:solidFill>
          <a:ln w="13970">
            <a:solidFill>
              <a:srgbClr val="7B61FF"/>
            </a:solidFill>
            <a:prstDash val="solid"/>
          </a:ln>
        </p:spPr>
      </p:sp>
      <mc:AlternateContent xmlns:mc="http://schemas.openxmlformats.org/markup-compatibility/2006">
        <mc:Choice xmlns:a14="http://schemas.microsoft.com/office/drawing/2010/main" Requires="a14">
          <p:sp>
            <p:nvSpPr>
              <p:cNvPr id="41" name="Text 25">
                <a:extLst>
                  <a:ext uri="{FF2B5EF4-FFF2-40B4-BE49-F238E27FC236}">
                    <a16:creationId xmlns:a16="http://schemas.microsoft.com/office/drawing/2014/main" id="{5B9E2965-A2EF-DB5F-21D4-7145E5073695}"/>
                  </a:ext>
                </a:extLst>
              </p:cNvPr>
              <p:cNvSpPr/>
              <p:nvPr/>
            </p:nvSpPr>
            <p:spPr>
              <a:xfrm>
                <a:off x="4712266" y="3877056"/>
                <a:ext cx="1645920" cy="713232"/>
              </a:xfrm>
              <a:prstGeom prst="rect">
                <a:avLst/>
              </a:prstGeom>
              <a:noFill/>
              <a:ln/>
            </p:spPr>
            <p:txBody>
              <a:bodyPr wrap="square" lIns="254" tIns="254" rIns="254" bIns="254" rtlCol="0" anchor="ctr">
                <a:normAutofit/>
              </a:bodyPr>
              <a:lstStyle/>
              <a:p>
                <a:pPr marL="0" indent="0" algn="ctr">
                  <a:buNone/>
                </a:pPr>
                <a:r>
                  <a:rPr lang="en-US" sz="1400" b="1" dirty="0">
                    <a:solidFill>
                      <a:srgbClr val="7B61FF"/>
                    </a:solidFill>
                  </a:rPr>
                  <a:t>small neural</a:t>
                </a:r>
                <a:endParaRPr lang="en-US" sz="1400" dirty="0"/>
              </a:p>
              <a:p>
                <a:pPr algn="ctr"/>
                <a:r>
                  <a:rPr lang="en-US" sz="1400" b="1" dirty="0">
                    <a:solidFill>
                      <a:srgbClr val="7B61FF"/>
                    </a:solidFill>
                  </a:rPr>
                  <a:t>network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𝑔</m:t>
                        </m:r>
                      </m:e>
                      <m:sub>
                        <m:r>
                          <m:rPr>
                            <m:sty m:val="p"/>
                          </m:rPr>
                          <a:rPr lang="en-US" altLang="zh-CN" sz="1400" i="1">
                            <a:latin typeface="Cambria Math" panose="02040503050406030204" pitchFamily="18" charset="0"/>
                          </a:rPr>
                          <m:t>θ</m:t>
                        </m:r>
                      </m:sub>
                    </m:sSub>
                    <m:r>
                      <a:rPr lang="en-US" altLang="zh-CN" sz="1400" i="1">
                        <a:latin typeface="Cambria Math" panose="02040503050406030204" pitchFamily="18" charset="0"/>
                      </a:rPr>
                      <m:t> </m:t>
                    </m:r>
                  </m:oMath>
                </a14:m>
                <a:r>
                  <a:rPr lang="en-US" sz="1400" b="1" dirty="0">
                    <a:solidFill>
                      <a:srgbClr val="7B61FF"/>
                    </a:solidFill>
                  </a:rPr>
                  <a:t>(·)</a:t>
                </a:r>
                <a:endParaRPr lang="en-US" sz="1400" dirty="0"/>
              </a:p>
            </p:txBody>
          </p:sp>
        </mc:Choice>
        <mc:Fallback>
          <p:sp>
            <p:nvSpPr>
              <p:cNvPr id="41" name="Text 25">
                <a:extLst>
                  <a:ext uri="{FF2B5EF4-FFF2-40B4-BE49-F238E27FC236}">
                    <a16:creationId xmlns:a16="http://schemas.microsoft.com/office/drawing/2014/main" id="{5B9E2965-A2EF-DB5F-21D4-7145E5073695}"/>
                  </a:ext>
                </a:extLst>
              </p:cNvPr>
              <p:cNvSpPr>
                <a:spLocks noRot="1" noChangeAspect="1" noMove="1" noResize="1" noEditPoints="1" noAdjustHandles="1" noChangeArrowheads="1" noChangeShapeType="1" noTextEdit="1"/>
              </p:cNvSpPr>
              <p:nvPr/>
            </p:nvSpPr>
            <p:spPr>
              <a:xfrm>
                <a:off x="4712266" y="3877056"/>
                <a:ext cx="1645920" cy="713232"/>
              </a:xfrm>
              <a:prstGeom prst="rect">
                <a:avLst/>
              </a:prstGeom>
              <a:blipFill>
                <a:blip r:embed="rId7"/>
                <a:stretch>
                  <a:fillRect/>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Text 26">
                <a:extLst>
                  <a:ext uri="{FF2B5EF4-FFF2-40B4-BE49-F238E27FC236}">
                    <a16:creationId xmlns:a16="http://schemas.microsoft.com/office/drawing/2014/main" id="{CFBF1164-8F8B-2A78-B314-83800BA1C51F}"/>
                  </a:ext>
                </a:extLst>
              </p:cNvPr>
              <p:cNvSpPr/>
              <p:nvPr/>
            </p:nvSpPr>
            <p:spPr>
              <a:xfrm>
                <a:off x="4392226" y="4946904"/>
                <a:ext cx="2286000" cy="502920"/>
              </a:xfrm>
              <a:prstGeom prst="rect">
                <a:avLst/>
              </a:prstGeom>
              <a:solidFill>
                <a:srgbClr val="FFFFFF"/>
              </a:solidFill>
              <a:ln w="12700">
                <a:solidFill>
                  <a:srgbClr val="7B61FF"/>
                </a:solidFill>
              </a:ln>
            </p:spPr>
            <p:txBody>
              <a:bodyPr wrap="square" lIns="508" tIns="508" rIns="508" bIns="508" rtlCol="0" anchor="ctr">
                <a:normAutofit/>
              </a:bodyPr>
              <a:lstStyle/>
              <a:p>
                <a:pPr algn="ctr"/>
                <a14:m>
                  <m:oMath xmlns:m="http://schemas.openxmlformats.org/officeDocument/2006/math">
                    <m:sSubSup>
                      <m:sSubSupPr>
                        <m:ctrlPr>
                          <a:rPr lang="zh-CN" altLang="en-US" sz="1200" i="1">
                            <a:solidFill>
                              <a:srgbClr val="0B1F3A"/>
                            </a:solidFill>
                            <a:latin typeface="Cambria Math" panose="02040503050406030204" pitchFamily="18" charset="0"/>
                          </a:rPr>
                        </m:ctrlPr>
                      </m:sSubSupPr>
                      <m:e>
                        <m:acc>
                          <m:accPr>
                            <m:chr m:val="̃"/>
                            <m:ctrlPr>
                              <a:rPr lang="zh-CN" altLang="en-US" sz="1200" i="1">
                                <a:solidFill>
                                  <a:srgbClr val="0B1F3A"/>
                                </a:solidFill>
                                <a:latin typeface="Cambria Math" panose="02040503050406030204" pitchFamily="18" charset="0"/>
                              </a:rPr>
                            </m:ctrlPr>
                          </m:accPr>
                          <m:e>
                            <m:r>
                              <a:rPr lang="zh-CN" altLang="en-US" sz="1200" i="1">
                                <a:solidFill>
                                  <a:srgbClr val="0B1F3A"/>
                                </a:solidFill>
                                <a:latin typeface="Cambria Math" panose="02040503050406030204" pitchFamily="18" charset="0"/>
                              </a:rPr>
                              <m:t>𝑇</m:t>
                            </m:r>
                          </m:e>
                        </m:acc>
                      </m:e>
                      <m:sub>
                        <m:r>
                          <a:rPr lang="en-US" altLang="zh-CN" sz="1200" i="1">
                            <a:solidFill>
                              <a:srgbClr val="0B1F3A"/>
                            </a:solidFill>
                            <a:latin typeface="Cambria Math" panose="02040503050406030204" pitchFamily="18" charset="0"/>
                          </a:rPr>
                          <m:t>𝑖</m:t>
                        </m:r>
                      </m:sub>
                      <m:sup>
                        <m:r>
                          <a:rPr lang="en-US" altLang="zh-CN" sz="1200" i="1">
                            <a:solidFill>
                              <a:srgbClr val="0B1F3A"/>
                            </a:solidFill>
                            <a:latin typeface="Cambria Math" panose="02040503050406030204" pitchFamily="18" charset="0"/>
                          </a:rPr>
                          <m:t>𝑉𝐿𝑀</m:t>
                        </m:r>
                      </m:sup>
                    </m:sSubSup>
                    <m:r>
                      <a:rPr lang="en-US" altLang="zh-CN" sz="1200" i="1">
                        <a:solidFill>
                          <a:srgbClr val="0B1F3A"/>
                        </a:solidFill>
                        <a:latin typeface="Cambria Math" panose="02040503050406030204" pitchFamily="18" charset="0"/>
                      </a:rPr>
                      <m:t> </m:t>
                    </m:r>
                  </m:oMath>
                </a14:m>
                <a:r>
                  <a:rPr lang="en-US" sz="1300" dirty="0">
                    <a:solidFill>
                      <a:srgbClr val="0B1F3A"/>
                    </a:solidFill>
                    <a:latin typeface="Cambria Math" pitchFamily="34" charset="0"/>
                    <a:ea typeface="Cambria Math" pitchFamily="34" charset="-122"/>
                    <a:cs typeface="Cambria Math" pitchFamily="34" charset="-120"/>
                  </a:rPr>
                  <a:t>= </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𝑔</m:t>
                        </m:r>
                      </m:e>
                      <m:sub>
                        <m:r>
                          <m:rPr>
                            <m:sty m:val="p"/>
                          </m:rPr>
                          <a:rPr lang="en-US" altLang="zh-CN" sz="1400" i="1" smtClean="0">
                            <a:latin typeface="Cambria Math" panose="02040503050406030204" pitchFamily="18" charset="0"/>
                          </a:rPr>
                          <m:t>θ</m:t>
                        </m:r>
                      </m:sub>
                    </m:sSub>
                    <m:r>
                      <a:rPr lang="en-US" altLang="zh-CN" sz="1400" i="1">
                        <a:latin typeface="Cambria Math" panose="02040503050406030204" pitchFamily="18" charset="0"/>
                      </a:rPr>
                      <m:t> </m:t>
                    </m:r>
                  </m:oMath>
                </a14:m>
                <a:r>
                  <a:rPr lang="en-US" sz="1300" dirty="0">
                    <a:solidFill>
                      <a:srgbClr val="0B1F3A"/>
                    </a:solidFill>
                    <a:latin typeface="Cambria Math" pitchFamily="34" charset="0"/>
                    <a:ea typeface="Cambria Math" pitchFamily="34" charset="-122"/>
                    <a:cs typeface="Cambria Math" pitchFamily="34" charset="-120"/>
                  </a:rPr>
                  <a:t>(</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𝑍</m:t>
                        </m:r>
                      </m:e>
                      <m:sub>
                        <m:r>
                          <a:rPr lang="en-US" altLang="zh-CN" sz="1400" i="1">
                            <a:latin typeface="Cambria Math" panose="02040503050406030204" pitchFamily="18" charset="0"/>
                          </a:rPr>
                          <m:t>𝑖</m:t>
                        </m:r>
                      </m:sub>
                    </m:sSub>
                    <m:r>
                      <a:rPr lang="en-US" altLang="zh-CN" sz="1400" i="1">
                        <a:latin typeface="Cambria Math" panose="02040503050406030204" pitchFamily="18" charset="0"/>
                      </a:rPr>
                      <m:t> </m:t>
                    </m:r>
                  </m:oMath>
                </a14:m>
                <a:r>
                  <a:rPr lang="en-US" sz="1300" dirty="0">
                    <a:solidFill>
                      <a:srgbClr val="0B1F3A"/>
                    </a:solidFill>
                    <a:latin typeface="Cambria Math" pitchFamily="34" charset="0"/>
                    <a:ea typeface="Cambria Math" pitchFamily="34" charset="-122"/>
                    <a:cs typeface="Cambria Math" pitchFamily="34" charset="-120"/>
                  </a:rPr>
                  <a:t>)</a:t>
                </a:r>
                <a:endParaRPr lang="en-US" sz="1300" dirty="0"/>
              </a:p>
            </p:txBody>
          </p:sp>
        </mc:Choice>
        <mc:Fallback>
          <p:sp>
            <p:nvSpPr>
              <p:cNvPr id="42" name="Text 26">
                <a:extLst>
                  <a:ext uri="{FF2B5EF4-FFF2-40B4-BE49-F238E27FC236}">
                    <a16:creationId xmlns:a16="http://schemas.microsoft.com/office/drawing/2014/main" id="{CFBF1164-8F8B-2A78-B314-83800BA1C51F}"/>
                  </a:ext>
                </a:extLst>
              </p:cNvPr>
              <p:cNvSpPr>
                <a:spLocks noRot="1" noChangeAspect="1" noMove="1" noResize="1" noEditPoints="1" noAdjustHandles="1" noChangeArrowheads="1" noChangeShapeType="1" noTextEdit="1"/>
              </p:cNvSpPr>
              <p:nvPr/>
            </p:nvSpPr>
            <p:spPr>
              <a:xfrm>
                <a:off x="4392226" y="4946904"/>
                <a:ext cx="2286000" cy="502920"/>
              </a:xfrm>
              <a:prstGeom prst="rect">
                <a:avLst/>
              </a:prstGeom>
              <a:blipFill>
                <a:blip r:embed="rId8"/>
                <a:stretch>
                  <a:fillRect/>
                </a:stretch>
              </a:blipFill>
              <a:ln w="12700">
                <a:solidFill>
                  <a:srgbClr val="7B61FF"/>
                </a:solidFill>
              </a:ln>
            </p:spPr>
            <p:txBody>
              <a:bodyPr/>
              <a:lstStyle/>
              <a:p>
                <a:r>
                  <a:rPr lang="zh-CN" altLang="en-US">
                    <a:noFill/>
                  </a:rPr>
                  <a:t> </a:t>
                </a:r>
              </a:p>
            </p:txBody>
          </p:sp>
        </mc:Fallback>
      </mc:AlternateContent>
      <p:sp>
        <p:nvSpPr>
          <p:cNvPr id="43" name="Text 27">
            <a:extLst>
              <a:ext uri="{FF2B5EF4-FFF2-40B4-BE49-F238E27FC236}">
                <a16:creationId xmlns:a16="http://schemas.microsoft.com/office/drawing/2014/main" id="{9F3205A1-9F96-7167-A337-C2103FD2B55E}"/>
              </a:ext>
            </a:extLst>
          </p:cNvPr>
          <p:cNvSpPr/>
          <p:nvPr/>
        </p:nvSpPr>
        <p:spPr>
          <a:xfrm>
            <a:off x="4351020" y="5723260"/>
            <a:ext cx="2468880" cy="685800"/>
          </a:xfrm>
          <a:prstGeom prst="rect">
            <a:avLst/>
          </a:prstGeom>
          <a:noFill/>
          <a:ln/>
        </p:spPr>
        <p:txBody>
          <a:bodyPr wrap="square" lIns="635" tIns="635" rIns="635" bIns="635" rtlCol="0" anchor="t">
            <a:normAutofit/>
          </a:bodyPr>
          <a:lstStyle/>
          <a:p>
            <a:pPr marL="0" indent="0" algn="ctr">
              <a:buNone/>
            </a:pPr>
            <a:r>
              <a:rPr lang="en-US" sz="1200" dirty="0">
                <a:solidFill>
                  <a:srgbClr val="374151"/>
                </a:solidFill>
                <a:latin typeface="Aptos" pitchFamily="34" charset="0"/>
                <a:ea typeface="Aptos" pitchFamily="34" charset="-122"/>
                <a:cs typeface="Aptos" pitchFamily="34" charset="-120"/>
              </a:rPr>
              <a:t>Trained from measured laptop traces; model stays small because it supports scheduling, not captioning.</a:t>
            </a:r>
            <a:endParaRPr lang="en-US" sz="1200" dirty="0"/>
          </a:p>
        </p:txBody>
      </p:sp>
      <p:sp>
        <p:nvSpPr>
          <p:cNvPr id="44" name="Text 2">
            <a:extLst>
              <a:ext uri="{FF2B5EF4-FFF2-40B4-BE49-F238E27FC236}">
                <a16:creationId xmlns:a16="http://schemas.microsoft.com/office/drawing/2014/main" id="{C63B5A0E-CEF7-4F55-C01E-36473CFBE4C6}"/>
              </a:ext>
            </a:extLst>
          </p:cNvPr>
          <p:cNvSpPr/>
          <p:nvPr/>
        </p:nvSpPr>
        <p:spPr>
          <a:xfrm>
            <a:off x="7542942" y="2410570"/>
            <a:ext cx="4740344" cy="318914"/>
          </a:xfrm>
          <a:prstGeom prst="rect">
            <a:avLst/>
          </a:prstGeom>
          <a:noFill/>
          <a:ln/>
        </p:spPr>
        <p:txBody>
          <a:bodyPr wrap="square" lIns="0" tIns="0" rIns="0" bIns="0" rtlCol="0" anchor="ctr"/>
          <a:lstStyle/>
          <a:p>
            <a:pPr marL="0" indent="0">
              <a:buNone/>
            </a:pPr>
            <a:r>
              <a:rPr lang="en-US" sz="2400" b="1" dirty="0">
                <a:solidFill>
                  <a:srgbClr val="0B1F3A"/>
                </a:solidFill>
                <a:latin typeface="Aptos Display" pitchFamily="34" charset="0"/>
                <a:ea typeface="Aptos Display" pitchFamily="34" charset="-122"/>
                <a:cs typeface="Aptos Display" pitchFamily="34" charset="-120"/>
              </a:rPr>
              <a:t>Dynamic Communication Budget</a:t>
            </a:r>
            <a:endParaRPr lang="en-US" sz="2400" dirty="0"/>
          </a:p>
        </p:txBody>
      </p:sp>
      <p:sp>
        <p:nvSpPr>
          <p:cNvPr id="45" name="Text 9">
            <a:extLst>
              <a:ext uri="{FF2B5EF4-FFF2-40B4-BE49-F238E27FC236}">
                <a16:creationId xmlns:a16="http://schemas.microsoft.com/office/drawing/2014/main" id="{9C4372AE-20A5-DC6A-C893-6BCED7768462}"/>
              </a:ext>
            </a:extLst>
          </p:cNvPr>
          <p:cNvSpPr/>
          <p:nvPr/>
        </p:nvSpPr>
        <p:spPr>
          <a:xfrm>
            <a:off x="7542942" y="3070098"/>
            <a:ext cx="4116774" cy="658368"/>
          </a:xfrm>
          <a:prstGeom prst="rect">
            <a:avLst/>
          </a:prstGeom>
          <a:solidFill>
            <a:srgbClr val="FFF4E6"/>
          </a:solidFill>
          <a:ln w="12700">
            <a:solidFill>
              <a:srgbClr val="F2994A"/>
            </a:solidFill>
          </a:ln>
        </p:spPr>
        <p:txBody>
          <a:bodyPr wrap="square" lIns="508" tIns="508" rIns="508" bIns="508" rtlCol="0" anchor="ctr">
            <a:normAutofit/>
          </a:bodyPr>
          <a:lstStyle/>
          <a:p>
            <a:pPr marL="0" indent="0" algn="ctr">
              <a:buNone/>
            </a:pPr>
            <a:endParaRPr lang="en-US" sz="1300" dirty="0"/>
          </a:p>
        </p:txBody>
      </p:sp>
      <p:sp>
        <p:nvSpPr>
          <p:cNvPr id="46" name="Shape 12">
            <a:extLst>
              <a:ext uri="{FF2B5EF4-FFF2-40B4-BE49-F238E27FC236}">
                <a16:creationId xmlns:a16="http://schemas.microsoft.com/office/drawing/2014/main" id="{B57377FF-936C-FF3B-F809-83B3DB55BDC4}"/>
              </a:ext>
            </a:extLst>
          </p:cNvPr>
          <p:cNvSpPr/>
          <p:nvPr/>
        </p:nvSpPr>
        <p:spPr>
          <a:xfrm>
            <a:off x="7734300" y="4121658"/>
            <a:ext cx="3817172" cy="896112"/>
          </a:xfrm>
          <a:prstGeom prst="roundRect">
            <a:avLst>
              <a:gd name="adj" fmla="val 8000"/>
            </a:avLst>
          </a:prstGeom>
          <a:solidFill>
            <a:srgbClr val="FFECEC"/>
          </a:solidFill>
          <a:ln w="7620">
            <a:solidFill>
              <a:srgbClr val="EB5757"/>
            </a:solidFill>
            <a:prstDash val="solid"/>
          </a:ln>
        </p:spPr>
      </p:sp>
      <p:sp>
        <p:nvSpPr>
          <p:cNvPr id="47" name="Text 13">
            <a:extLst>
              <a:ext uri="{FF2B5EF4-FFF2-40B4-BE49-F238E27FC236}">
                <a16:creationId xmlns:a16="http://schemas.microsoft.com/office/drawing/2014/main" id="{522B99AF-ACFF-1FC2-EB29-40D071704C01}"/>
              </a:ext>
            </a:extLst>
          </p:cNvPr>
          <p:cNvSpPr/>
          <p:nvPr/>
        </p:nvSpPr>
        <p:spPr>
          <a:xfrm>
            <a:off x="8047836" y="4301236"/>
            <a:ext cx="3017520" cy="219456"/>
          </a:xfrm>
          <a:prstGeom prst="rect">
            <a:avLst/>
          </a:prstGeom>
          <a:noFill/>
          <a:ln/>
        </p:spPr>
        <p:txBody>
          <a:bodyPr wrap="square" lIns="635" tIns="635" rIns="635" bIns="635" rtlCol="0" anchor="t">
            <a:noAutofit/>
          </a:bodyPr>
          <a:lstStyle/>
          <a:p>
            <a:pPr marL="0" indent="0" algn="ctr">
              <a:buNone/>
            </a:pPr>
            <a:r>
              <a:rPr lang="en-US" sz="1600" b="1" dirty="0">
                <a:solidFill>
                  <a:srgbClr val="EB5757"/>
                </a:solidFill>
                <a:latin typeface="Aptos" pitchFamily="34" charset="0"/>
                <a:ea typeface="Aptos" pitchFamily="34" charset="-122"/>
                <a:cs typeface="Aptos" pitchFamily="34" charset="-120"/>
              </a:rPr>
              <a:t>If predicted edge is long</a:t>
            </a:r>
            <a:endParaRPr lang="en-US" sz="1600" dirty="0"/>
          </a:p>
        </p:txBody>
      </p:sp>
      <p:sp>
        <p:nvSpPr>
          <p:cNvPr id="48" name="Text 14">
            <a:extLst>
              <a:ext uri="{FF2B5EF4-FFF2-40B4-BE49-F238E27FC236}">
                <a16:creationId xmlns:a16="http://schemas.microsoft.com/office/drawing/2014/main" id="{0FAF4575-2696-A153-E280-618C14161AAE}"/>
              </a:ext>
            </a:extLst>
          </p:cNvPr>
          <p:cNvSpPr/>
          <p:nvPr/>
        </p:nvSpPr>
        <p:spPr>
          <a:xfrm>
            <a:off x="7915992" y="4645406"/>
            <a:ext cx="3595076" cy="204470"/>
          </a:xfrm>
          <a:prstGeom prst="rect">
            <a:avLst/>
          </a:prstGeom>
          <a:noFill/>
          <a:ln/>
        </p:spPr>
        <p:txBody>
          <a:bodyPr wrap="square" lIns="635" tIns="635" rIns="635" bIns="635" rtlCol="0" anchor="t">
            <a:noAutofit/>
          </a:bodyPr>
          <a:lstStyle/>
          <a:p>
            <a:pPr marL="0" indent="0" algn="ctr">
              <a:buNone/>
            </a:pPr>
            <a:r>
              <a:rPr lang="en-US" sz="1200" dirty="0">
                <a:solidFill>
                  <a:srgbClr val="374151"/>
                </a:solidFill>
                <a:latin typeface="Aptos" pitchFamily="34" charset="0"/>
                <a:ea typeface="Aptos" pitchFamily="34" charset="-122"/>
                <a:cs typeface="Aptos" pitchFamily="34" charset="-120"/>
              </a:rPr>
              <a:t>Less time remains for upload → earlier uplink deadline.</a:t>
            </a:r>
            <a:endParaRPr lang="en-US" sz="1200" dirty="0"/>
          </a:p>
        </p:txBody>
      </p:sp>
      <p:sp>
        <p:nvSpPr>
          <p:cNvPr id="49" name="Shape 15">
            <a:extLst>
              <a:ext uri="{FF2B5EF4-FFF2-40B4-BE49-F238E27FC236}">
                <a16:creationId xmlns:a16="http://schemas.microsoft.com/office/drawing/2014/main" id="{F9F988B8-5C77-6B68-E02E-C4AD1CA54427}"/>
              </a:ext>
            </a:extLst>
          </p:cNvPr>
          <p:cNvSpPr/>
          <p:nvPr/>
        </p:nvSpPr>
        <p:spPr>
          <a:xfrm>
            <a:off x="7734300" y="5339212"/>
            <a:ext cx="3817172" cy="931286"/>
          </a:xfrm>
          <a:prstGeom prst="roundRect">
            <a:avLst>
              <a:gd name="adj" fmla="val 8000"/>
            </a:avLst>
          </a:prstGeom>
          <a:solidFill>
            <a:srgbClr val="ECFDF3"/>
          </a:solidFill>
          <a:ln w="7620">
            <a:solidFill>
              <a:srgbClr val="27AE60"/>
            </a:solidFill>
            <a:prstDash val="solid"/>
          </a:ln>
        </p:spPr>
      </p:sp>
      <p:sp>
        <p:nvSpPr>
          <p:cNvPr id="50" name="Text 16">
            <a:extLst>
              <a:ext uri="{FF2B5EF4-FFF2-40B4-BE49-F238E27FC236}">
                <a16:creationId xmlns:a16="http://schemas.microsoft.com/office/drawing/2014/main" id="{ED7034AA-0439-AC7A-1657-24530F625B8E}"/>
              </a:ext>
            </a:extLst>
          </p:cNvPr>
          <p:cNvSpPr/>
          <p:nvPr/>
        </p:nvSpPr>
        <p:spPr>
          <a:xfrm>
            <a:off x="8093556" y="5503804"/>
            <a:ext cx="3017520" cy="219456"/>
          </a:xfrm>
          <a:prstGeom prst="rect">
            <a:avLst/>
          </a:prstGeom>
          <a:noFill/>
          <a:ln/>
        </p:spPr>
        <p:txBody>
          <a:bodyPr wrap="square" lIns="635" tIns="635" rIns="635" bIns="635" rtlCol="0" anchor="t">
            <a:noAutofit/>
          </a:bodyPr>
          <a:lstStyle/>
          <a:p>
            <a:pPr marL="0" indent="0" algn="ctr">
              <a:buNone/>
            </a:pPr>
            <a:r>
              <a:rPr lang="en-US" sz="1600" b="1" dirty="0">
                <a:solidFill>
                  <a:srgbClr val="27AE60"/>
                </a:solidFill>
                <a:latin typeface="Aptos" pitchFamily="34" charset="0"/>
                <a:ea typeface="Aptos" pitchFamily="34" charset="-122"/>
                <a:cs typeface="Aptos" pitchFamily="34" charset="-120"/>
              </a:rPr>
              <a:t>If predicted edge is short</a:t>
            </a:r>
            <a:endParaRPr lang="en-US" sz="1600" dirty="0"/>
          </a:p>
        </p:txBody>
      </p:sp>
      <p:sp>
        <p:nvSpPr>
          <p:cNvPr id="51" name="Text 17">
            <a:extLst>
              <a:ext uri="{FF2B5EF4-FFF2-40B4-BE49-F238E27FC236}">
                <a16:creationId xmlns:a16="http://schemas.microsoft.com/office/drawing/2014/main" id="{0622AD46-5260-3A3C-E083-6AA78C23F9E1}"/>
              </a:ext>
            </a:extLst>
          </p:cNvPr>
          <p:cNvSpPr/>
          <p:nvPr/>
        </p:nvSpPr>
        <p:spPr>
          <a:xfrm>
            <a:off x="7915992" y="5814700"/>
            <a:ext cx="3651110" cy="230002"/>
          </a:xfrm>
          <a:prstGeom prst="rect">
            <a:avLst/>
          </a:prstGeom>
          <a:noFill/>
          <a:ln/>
        </p:spPr>
        <p:txBody>
          <a:bodyPr wrap="square" lIns="635" tIns="635" rIns="635" bIns="635" rtlCol="0" anchor="t">
            <a:noAutofit/>
          </a:bodyPr>
          <a:lstStyle/>
          <a:p>
            <a:pPr marL="0" indent="0" algn="ctr">
              <a:buNone/>
            </a:pPr>
            <a:r>
              <a:rPr lang="en-US" sz="1200" dirty="0">
                <a:solidFill>
                  <a:srgbClr val="374151"/>
                </a:solidFill>
                <a:latin typeface="Aptos" pitchFamily="34" charset="0"/>
                <a:ea typeface="Aptos" pitchFamily="34" charset="-122"/>
                <a:cs typeface="Aptos" pitchFamily="34" charset="-120"/>
              </a:rPr>
              <a:t>Upload can wait longer without violating E2E deadline.</a:t>
            </a:r>
            <a:endParaRPr lang="en-US" sz="1200" dirty="0"/>
          </a:p>
        </p:txBody>
      </p:sp>
      <p:pic>
        <p:nvPicPr>
          <p:cNvPr id="52" name="图片 51">
            <a:extLst>
              <a:ext uri="{FF2B5EF4-FFF2-40B4-BE49-F238E27FC236}">
                <a16:creationId xmlns:a16="http://schemas.microsoft.com/office/drawing/2014/main" id="{734874C1-90F1-7C42-27A7-3C0290A16EBE}"/>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7983338" y="3184231"/>
            <a:ext cx="3424816" cy="523539"/>
          </a:xfrm>
          <a:prstGeom prst="rect">
            <a:avLst/>
          </a:prstGeom>
        </p:spPr>
      </p:pic>
    </p:spTree>
    <p:extLst>
      <p:ext uri="{BB962C8B-B14F-4D97-AF65-F5344CB8AC3E}">
        <p14:creationId xmlns:p14="http://schemas.microsoft.com/office/powerpoint/2010/main" val="3332350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68F01-4B07-F1A2-E9A6-CF4C6E440650}"/>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ADEA7F4-CA37-5CB8-FAC4-96019C98C3D8}"/>
              </a:ext>
            </a:extLst>
          </p:cNvPr>
          <p:cNvSpPr>
            <a:spLocks noGrp="1"/>
          </p:cNvSpPr>
          <p:nvPr>
            <p:ph type="sldNum" sz="quarter" idx="12"/>
          </p:nvPr>
        </p:nvSpPr>
        <p:spPr/>
        <p:txBody>
          <a:bodyPr/>
          <a:lstStyle/>
          <a:p>
            <a:fld id="{05D9B913-E621-4E85-A790-32644CC04F9B}" type="slidenum">
              <a:rPr lang="zh-CN" altLang="en-US" smtClean="0"/>
              <a:t>6</a:t>
            </a:fld>
            <a:endParaRPr lang="zh-CN" altLang="en-US"/>
          </a:p>
        </p:txBody>
      </p:sp>
      <p:sp>
        <p:nvSpPr>
          <p:cNvPr id="5" name="文本框 4">
            <a:extLst>
              <a:ext uri="{FF2B5EF4-FFF2-40B4-BE49-F238E27FC236}">
                <a16:creationId xmlns:a16="http://schemas.microsoft.com/office/drawing/2014/main" id="{B6585E26-4BD5-2B8D-FFA9-73460081F7B9}"/>
              </a:ext>
            </a:extLst>
          </p:cNvPr>
          <p:cNvSpPr txBox="1"/>
          <p:nvPr/>
        </p:nvSpPr>
        <p:spPr>
          <a:xfrm>
            <a:off x="663259" y="421285"/>
            <a:ext cx="6801862" cy="707886"/>
          </a:xfrm>
          <a:prstGeom prst="rect">
            <a:avLst/>
          </a:prstGeom>
          <a:noFill/>
        </p:spPr>
        <p:txBody>
          <a:bodyPr wrap="none" rtlCol="0">
            <a:spAutoFit/>
          </a:bodyPr>
          <a:lstStyle/>
          <a:p>
            <a:r>
              <a:rPr lang="en-US" altLang="zh-CN" sz="4000" b="1" dirty="0">
                <a:latin typeface="Calibri" panose="020F0502020204030204" pitchFamily="34" charset="0"/>
                <a:ea typeface="Calibri" panose="020F0502020204030204" pitchFamily="34" charset="0"/>
                <a:cs typeface="Calibri" panose="020F0502020204030204" pitchFamily="34" charset="0"/>
              </a:rPr>
              <a:t>Implementation (client/server)</a:t>
            </a:r>
            <a:endParaRPr lang="zh-CN" altLang="en-US" sz="4000" b="1" dirty="0">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E2E15B99-7CB7-48BF-9987-5CAE46B0BC34}"/>
              </a:ext>
            </a:extLst>
          </p:cNvPr>
          <p:cNvSpPr txBox="1"/>
          <p:nvPr/>
        </p:nvSpPr>
        <p:spPr>
          <a:xfrm>
            <a:off x="1591401" y="1593630"/>
            <a:ext cx="7372531" cy="523220"/>
          </a:xfrm>
          <a:prstGeom prst="rect">
            <a:avLst/>
          </a:prstGeom>
          <a:noFill/>
        </p:spPr>
        <p:txBody>
          <a:bodyPr wrap="none" rtlCol="0">
            <a:spAutoFit/>
          </a:bodyPr>
          <a:lstStyle/>
          <a:p>
            <a:r>
              <a:rPr lang="en-US" altLang="zh-CN" sz="2800" dirty="0"/>
              <a:t>Experiments against baseline + real-world test</a:t>
            </a:r>
            <a:endParaRPr lang="zh-CN" altLang="en-US" sz="2800" dirty="0"/>
          </a:p>
        </p:txBody>
      </p:sp>
      <p:pic>
        <p:nvPicPr>
          <p:cNvPr id="6" name="图形 5" descr="齿轮 纯色填充">
            <a:extLst>
              <a:ext uri="{FF2B5EF4-FFF2-40B4-BE49-F238E27FC236}">
                <a16:creationId xmlns:a16="http://schemas.microsoft.com/office/drawing/2014/main" id="{6E506F6C-F779-4F18-9F16-2BB74BAEA0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16365" y="3028344"/>
            <a:ext cx="675060" cy="675060"/>
          </a:xfrm>
          <a:prstGeom prst="rect">
            <a:avLst/>
          </a:prstGeom>
        </p:spPr>
      </p:pic>
      <p:pic>
        <p:nvPicPr>
          <p:cNvPr id="7" name="图形 6" descr="智能手机 纯色填充">
            <a:extLst>
              <a:ext uri="{FF2B5EF4-FFF2-40B4-BE49-F238E27FC236}">
                <a16:creationId xmlns:a16="http://schemas.microsoft.com/office/drawing/2014/main" id="{D11D4696-B68D-463F-A80A-E4CB062B13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84319" y="3641806"/>
            <a:ext cx="914400" cy="914400"/>
          </a:xfrm>
          <a:prstGeom prst="rect">
            <a:avLst/>
          </a:prstGeom>
        </p:spPr>
      </p:pic>
      <p:pic>
        <p:nvPicPr>
          <p:cNvPr id="8" name="图形 7" descr="计算机 纯色填充">
            <a:extLst>
              <a:ext uri="{FF2B5EF4-FFF2-40B4-BE49-F238E27FC236}">
                <a16:creationId xmlns:a16="http://schemas.microsoft.com/office/drawing/2014/main" id="{58868E57-7B7E-463A-9A44-2A407ABFDA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96697" y="3641806"/>
            <a:ext cx="914400" cy="914400"/>
          </a:xfrm>
          <a:prstGeom prst="rect">
            <a:avLst/>
          </a:prstGeom>
        </p:spPr>
      </p:pic>
      <p:pic>
        <p:nvPicPr>
          <p:cNvPr id="9" name="图形 8" descr="上一步 纯色填充">
            <a:extLst>
              <a:ext uri="{FF2B5EF4-FFF2-40B4-BE49-F238E27FC236}">
                <a16:creationId xmlns:a16="http://schemas.microsoft.com/office/drawing/2014/main" id="{47A2D9AB-9108-4DF7-A684-0590D51599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9500000">
            <a:off x="5708781" y="3169291"/>
            <a:ext cx="914400" cy="914400"/>
          </a:xfrm>
          <a:prstGeom prst="rect">
            <a:avLst/>
          </a:prstGeom>
        </p:spPr>
      </p:pic>
      <p:pic>
        <p:nvPicPr>
          <p:cNvPr id="10" name="图形 9" descr="带齿轮的头部 纯色填充">
            <a:extLst>
              <a:ext uri="{FF2B5EF4-FFF2-40B4-BE49-F238E27FC236}">
                <a16:creationId xmlns:a16="http://schemas.microsoft.com/office/drawing/2014/main" id="{0832B27C-3497-4FC2-B969-F2B341D6D9B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07273" y="4006991"/>
            <a:ext cx="268491" cy="268491"/>
          </a:xfrm>
          <a:prstGeom prst="rect">
            <a:avLst/>
          </a:prstGeom>
        </p:spPr>
      </p:pic>
      <p:pic>
        <p:nvPicPr>
          <p:cNvPr id="11" name="图形 10" descr="上一步 纯色填充">
            <a:extLst>
              <a:ext uri="{FF2B5EF4-FFF2-40B4-BE49-F238E27FC236}">
                <a16:creationId xmlns:a16="http://schemas.microsoft.com/office/drawing/2014/main" id="{D0F1984E-ACBB-4FC9-A320-04B8FCEE751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8700000">
            <a:off x="5740506" y="4367496"/>
            <a:ext cx="914400" cy="914400"/>
          </a:xfrm>
          <a:prstGeom prst="rect">
            <a:avLst/>
          </a:prstGeom>
        </p:spPr>
      </p:pic>
      <p:pic>
        <p:nvPicPr>
          <p:cNvPr id="12" name="图形 11" descr="文档 纯色填充">
            <a:extLst>
              <a:ext uri="{FF2B5EF4-FFF2-40B4-BE49-F238E27FC236}">
                <a16:creationId xmlns:a16="http://schemas.microsoft.com/office/drawing/2014/main" id="{05443D79-421D-4988-8A94-74AC938398F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80257" y="5129100"/>
            <a:ext cx="434897" cy="434897"/>
          </a:xfrm>
          <a:prstGeom prst="rect">
            <a:avLst/>
          </a:prstGeom>
        </p:spPr>
      </p:pic>
      <p:sp>
        <p:nvSpPr>
          <p:cNvPr id="13" name="文本框 12">
            <a:extLst>
              <a:ext uri="{FF2B5EF4-FFF2-40B4-BE49-F238E27FC236}">
                <a16:creationId xmlns:a16="http://schemas.microsoft.com/office/drawing/2014/main" id="{DD7D1817-75F6-4555-BEFE-1496C23E3D57}"/>
              </a:ext>
            </a:extLst>
          </p:cNvPr>
          <p:cNvSpPr txBox="1"/>
          <p:nvPr/>
        </p:nvSpPr>
        <p:spPr>
          <a:xfrm>
            <a:off x="3857099" y="4640667"/>
            <a:ext cx="1368837" cy="923330"/>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“A person is stretching both arms”</a:t>
            </a:r>
            <a:endParaRPr lang="zh-CN" altLang="en-US" dirty="0">
              <a:latin typeface="Calibri" panose="020F0502020204030204" pitchFamily="34" charset="0"/>
              <a:cs typeface="Calibri" panose="020F0502020204030204" pitchFamily="34" charset="0"/>
            </a:endParaRPr>
          </a:p>
        </p:txBody>
      </p:sp>
      <p:sp>
        <p:nvSpPr>
          <p:cNvPr id="25" name="文本框 24">
            <a:extLst>
              <a:ext uri="{FF2B5EF4-FFF2-40B4-BE49-F238E27FC236}">
                <a16:creationId xmlns:a16="http://schemas.microsoft.com/office/drawing/2014/main" id="{B4E76235-B590-4EE8-9081-B685D86B8511}"/>
              </a:ext>
            </a:extLst>
          </p:cNvPr>
          <p:cNvSpPr txBox="1"/>
          <p:nvPr/>
        </p:nvSpPr>
        <p:spPr>
          <a:xfrm>
            <a:off x="418018" y="2975939"/>
            <a:ext cx="3467056" cy="1077218"/>
          </a:xfrm>
          <a:prstGeom prst="rect">
            <a:avLst/>
          </a:prstGeom>
          <a:noFill/>
        </p:spPr>
        <p:txBody>
          <a:bodyPr wrap="square" rtlCol="0">
            <a:spAutoFit/>
          </a:bodyPr>
          <a:lstStyle/>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Smartphone</a:t>
            </a:r>
          </a:p>
          <a:p>
            <a:pPr marL="514350" indent="-514350">
              <a:buAutoNum type="arabicPeriod"/>
            </a:pPr>
            <a:r>
              <a:rPr lang="en-US" altLang="zh-CN" sz="3200" dirty="0" err="1">
                <a:latin typeface="Calibri" panose="020F0502020204030204" pitchFamily="34" charset="0"/>
                <a:ea typeface="Calibri" panose="020F0502020204030204" pitchFamily="34" charset="0"/>
                <a:cs typeface="Calibri" panose="020F0502020204030204" pitchFamily="34" charset="0"/>
              </a:rPr>
              <a:t>SmolVLM</a:t>
            </a:r>
            <a:r>
              <a:rPr lang="en-US" altLang="zh-CN" sz="3200" dirty="0">
                <a:latin typeface="Calibri" panose="020F0502020204030204" pitchFamily="34" charset="0"/>
                <a:ea typeface="Calibri" panose="020F0502020204030204" pitchFamily="34" charset="0"/>
                <a:cs typeface="Calibri" panose="020F0502020204030204" pitchFamily="34" charset="0"/>
              </a:rPr>
              <a:t> (4-bit)</a:t>
            </a:r>
          </a:p>
        </p:txBody>
      </p:sp>
      <p:sp>
        <p:nvSpPr>
          <p:cNvPr id="26" name="文本框 25">
            <a:extLst>
              <a:ext uri="{FF2B5EF4-FFF2-40B4-BE49-F238E27FC236}">
                <a16:creationId xmlns:a16="http://schemas.microsoft.com/office/drawing/2014/main" id="{0869021D-A208-4C22-AA0D-962EDBBF34D1}"/>
              </a:ext>
            </a:extLst>
          </p:cNvPr>
          <p:cNvSpPr txBox="1"/>
          <p:nvPr/>
        </p:nvSpPr>
        <p:spPr>
          <a:xfrm>
            <a:off x="8446888" y="3028344"/>
            <a:ext cx="3467056" cy="1077218"/>
          </a:xfrm>
          <a:prstGeom prst="rect">
            <a:avLst/>
          </a:prstGeom>
          <a:noFill/>
        </p:spPr>
        <p:txBody>
          <a:bodyPr wrap="square" rtlCol="0">
            <a:spAutoFit/>
          </a:bodyPr>
          <a:lstStyle/>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Laptop</a:t>
            </a:r>
          </a:p>
          <a:p>
            <a:pPr marL="514350" indent="-514350">
              <a:buAutoNum type="arabicPeriod"/>
            </a:pPr>
            <a:r>
              <a:rPr lang="en-US" altLang="zh-CN" sz="3200" dirty="0">
                <a:latin typeface="Calibri" panose="020F0502020204030204" pitchFamily="34" charset="0"/>
                <a:ea typeface="Calibri" panose="020F0502020204030204" pitchFamily="34" charset="0"/>
                <a:cs typeface="Calibri" panose="020F0502020204030204" pitchFamily="34" charset="0"/>
              </a:rPr>
              <a:t>CLIP/</a:t>
            </a:r>
            <a:r>
              <a:rPr lang="en-US" altLang="zh-CN" sz="3200" dirty="0" err="1">
                <a:latin typeface="Calibri" panose="020F0502020204030204" pitchFamily="34" charset="0"/>
                <a:ea typeface="Calibri" panose="020F0502020204030204" pitchFamily="34" charset="0"/>
                <a:cs typeface="Calibri" panose="020F0502020204030204" pitchFamily="34" charset="0"/>
              </a:rPr>
              <a:t>Qwen</a:t>
            </a:r>
            <a:r>
              <a:rPr lang="en-US" altLang="zh-CN" sz="3200" dirty="0">
                <a:latin typeface="Calibri" panose="020F0502020204030204" pitchFamily="34" charset="0"/>
                <a:ea typeface="Calibri" panose="020F0502020204030204" pitchFamily="34" charset="0"/>
                <a:cs typeface="Calibri" panose="020F0502020204030204" pitchFamily="34" charset="0"/>
              </a:rPr>
              <a:t> …</a:t>
            </a:r>
          </a:p>
        </p:txBody>
      </p:sp>
      <p:sp>
        <p:nvSpPr>
          <p:cNvPr id="2" name="文本框 1">
            <a:extLst>
              <a:ext uri="{FF2B5EF4-FFF2-40B4-BE49-F238E27FC236}">
                <a16:creationId xmlns:a16="http://schemas.microsoft.com/office/drawing/2014/main" id="{CE525E87-C772-14F4-0C90-3CA190FBBE7E}"/>
              </a:ext>
            </a:extLst>
          </p:cNvPr>
          <p:cNvSpPr txBox="1"/>
          <p:nvPr/>
        </p:nvSpPr>
        <p:spPr>
          <a:xfrm>
            <a:off x="5513286" y="2165545"/>
            <a:ext cx="1368837" cy="1200329"/>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Yes:</a:t>
            </a:r>
          </a:p>
          <a:p>
            <a:r>
              <a:rPr lang="en-US" altLang="zh-CN" dirty="0">
                <a:latin typeface="Calibri" panose="020F0502020204030204" pitchFamily="34" charset="0"/>
                <a:ea typeface="Calibri" panose="020F0502020204030204" pitchFamily="34" charset="0"/>
                <a:cs typeface="Calibri" panose="020F0502020204030204" pitchFamily="34" charset="0"/>
              </a:rPr>
              <a:t>“A person is stretching both arms”</a:t>
            </a:r>
            <a:endParaRPr lang="zh-C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4548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0EC53-F77B-CD0A-830D-6B5D11C054CC}"/>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60DAC8B-5294-EE0A-98FA-998B5C5BCEFB}"/>
              </a:ext>
            </a:extLst>
          </p:cNvPr>
          <p:cNvSpPr>
            <a:spLocks noGrp="1"/>
          </p:cNvSpPr>
          <p:nvPr>
            <p:ph type="sldNum" sz="quarter" idx="12"/>
          </p:nvPr>
        </p:nvSpPr>
        <p:spPr>
          <a:xfrm>
            <a:off x="8102600" y="11654064"/>
            <a:ext cx="2743200" cy="365125"/>
          </a:xfrm>
        </p:spPr>
        <p:txBody>
          <a:bodyPr/>
          <a:lstStyle/>
          <a:p>
            <a:fld id="{05D9B913-E621-4E85-A790-32644CC04F9B}" type="slidenum">
              <a:rPr lang="zh-CN" altLang="en-US" smtClean="0"/>
              <a:t>7</a:t>
            </a:fld>
            <a:endParaRPr lang="zh-CN" altLang="en-US"/>
          </a:p>
        </p:txBody>
      </p:sp>
      <p:sp>
        <p:nvSpPr>
          <p:cNvPr id="5" name="文本框 4">
            <a:extLst>
              <a:ext uri="{FF2B5EF4-FFF2-40B4-BE49-F238E27FC236}">
                <a16:creationId xmlns:a16="http://schemas.microsoft.com/office/drawing/2014/main" id="{DC2F8743-6C2A-EE98-B103-3817AD04F9AF}"/>
              </a:ext>
            </a:extLst>
          </p:cNvPr>
          <p:cNvSpPr txBox="1"/>
          <p:nvPr/>
        </p:nvSpPr>
        <p:spPr>
          <a:xfrm>
            <a:off x="663259" y="421285"/>
            <a:ext cx="5515292" cy="707886"/>
          </a:xfrm>
          <a:prstGeom prst="rect">
            <a:avLst/>
          </a:prstGeom>
          <a:noFill/>
        </p:spPr>
        <p:txBody>
          <a:bodyPr wrap="none" rtlCol="0">
            <a:spAutoFit/>
          </a:bodyPr>
          <a:lstStyle/>
          <a:p>
            <a:r>
              <a:rPr lang="en-US" altLang="zh-CN" sz="4000" b="1" dirty="0">
                <a:latin typeface="Calibri" panose="020F0502020204030204" pitchFamily="34" charset="0"/>
                <a:ea typeface="Calibri" panose="020F0502020204030204" pitchFamily="34" charset="0"/>
                <a:cs typeface="Calibri" panose="020F0502020204030204" pitchFamily="34" charset="0"/>
              </a:rPr>
              <a:t>Implementation (comm.)</a:t>
            </a:r>
            <a:endParaRPr lang="zh-CN" altLang="en-US" sz="4000" b="1" dirty="0">
              <a:latin typeface="Calibri" panose="020F0502020204030204" pitchFamily="34" charset="0"/>
              <a:cs typeface="Calibri" panose="020F0502020204030204" pitchFamily="34" charset="0"/>
            </a:endParaRPr>
          </a:p>
        </p:txBody>
      </p:sp>
      <p:sp>
        <p:nvSpPr>
          <p:cNvPr id="2" name="文本框 1">
            <a:extLst>
              <a:ext uri="{FF2B5EF4-FFF2-40B4-BE49-F238E27FC236}">
                <a16:creationId xmlns:a16="http://schemas.microsoft.com/office/drawing/2014/main" id="{CB8E8D44-854B-B409-3CF4-A1499FC9C6C8}"/>
              </a:ext>
            </a:extLst>
          </p:cNvPr>
          <p:cNvSpPr txBox="1"/>
          <p:nvPr/>
        </p:nvSpPr>
        <p:spPr>
          <a:xfrm>
            <a:off x="2354456" y="4766754"/>
            <a:ext cx="636714" cy="276998"/>
          </a:xfrm>
          <a:prstGeom prst="rect">
            <a:avLst/>
          </a:prstGeom>
          <a:noFill/>
        </p:spPr>
        <p:txBody>
          <a:bodyPr wrap="none" rtlCol="0">
            <a:spAutoFit/>
          </a:bodyPr>
          <a:lstStyle/>
          <a:p>
            <a:r>
              <a:rPr lang="en-US" altLang="zh-CN" sz="1200" dirty="0"/>
              <a:t>AI</a:t>
            </a:r>
            <a:r>
              <a:rPr lang="zh-CN" altLang="en-US" sz="1200" dirty="0"/>
              <a:t> </a:t>
            </a:r>
            <a:r>
              <a:rPr lang="en-US" altLang="zh-CN" sz="1200" dirty="0"/>
              <a:t>UE 1</a:t>
            </a:r>
            <a:endParaRPr lang="zh-CN" altLang="en-US" sz="1200" dirty="0"/>
          </a:p>
        </p:txBody>
      </p:sp>
      <p:sp>
        <p:nvSpPr>
          <p:cNvPr id="3" name="矩形 2">
            <a:extLst>
              <a:ext uri="{FF2B5EF4-FFF2-40B4-BE49-F238E27FC236}">
                <a16:creationId xmlns:a16="http://schemas.microsoft.com/office/drawing/2014/main" id="{064C8CFB-33B8-774B-F026-E76E805AA239}"/>
              </a:ext>
            </a:extLst>
          </p:cNvPr>
          <p:cNvSpPr/>
          <p:nvPr/>
        </p:nvSpPr>
        <p:spPr>
          <a:xfrm>
            <a:off x="3403713" y="4766754"/>
            <a:ext cx="1047332" cy="275898"/>
          </a:xfrm>
          <a:prstGeom prst="rect">
            <a:avLst/>
          </a:prstGeom>
          <a:solidFill>
            <a:schemeClr val="tx2">
              <a:lumMod val="10000"/>
              <a:lumOff val="9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UL</a:t>
            </a:r>
            <a:endParaRPr lang="zh-CN" altLang="en-US" sz="1200" dirty="0">
              <a:solidFill>
                <a:schemeClr val="tx1"/>
              </a:solidFill>
            </a:endParaRPr>
          </a:p>
        </p:txBody>
      </p:sp>
      <p:sp>
        <p:nvSpPr>
          <p:cNvPr id="6" name="矩形 5">
            <a:extLst>
              <a:ext uri="{FF2B5EF4-FFF2-40B4-BE49-F238E27FC236}">
                <a16:creationId xmlns:a16="http://schemas.microsoft.com/office/drawing/2014/main" id="{90CD8343-EA8F-CB29-83F5-0483A2322E2F}"/>
              </a:ext>
            </a:extLst>
          </p:cNvPr>
          <p:cNvSpPr/>
          <p:nvPr/>
        </p:nvSpPr>
        <p:spPr>
          <a:xfrm>
            <a:off x="4449287" y="4766754"/>
            <a:ext cx="1555274" cy="275898"/>
          </a:xfrm>
          <a:prstGeom prst="rect">
            <a:avLst/>
          </a:prstGeom>
          <a:solidFill>
            <a:schemeClr val="accent2">
              <a:lumMod val="20000"/>
              <a:lumOff val="8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compute</a:t>
            </a:r>
            <a:endParaRPr lang="zh-CN" altLang="en-US" sz="1200" dirty="0">
              <a:solidFill>
                <a:schemeClr val="tx1"/>
              </a:solidFill>
            </a:endParaRPr>
          </a:p>
        </p:txBody>
      </p:sp>
      <p:sp>
        <p:nvSpPr>
          <p:cNvPr id="7" name="文本框 6">
            <a:extLst>
              <a:ext uri="{FF2B5EF4-FFF2-40B4-BE49-F238E27FC236}">
                <a16:creationId xmlns:a16="http://schemas.microsoft.com/office/drawing/2014/main" id="{67665C1E-5BEE-73DF-7692-E21D7A6FAB2A}"/>
              </a:ext>
            </a:extLst>
          </p:cNvPr>
          <p:cNvSpPr txBox="1"/>
          <p:nvPr/>
        </p:nvSpPr>
        <p:spPr>
          <a:xfrm>
            <a:off x="2354456" y="5337424"/>
            <a:ext cx="636714" cy="276998"/>
          </a:xfrm>
          <a:prstGeom prst="rect">
            <a:avLst/>
          </a:prstGeom>
          <a:noFill/>
        </p:spPr>
        <p:txBody>
          <a:bodyPr wrap="none" rtlCol="0">
            <a:spAutoFit/>
          </a:bodyPr>
          <a:lstStyle/>
          <a:p>
            <a:r>
              <a:rPr lang="en-US" altLang="zh-CN" sz="1200" dirty="0"/>
              <a:t>AI</a:t>
            </a:r>
            <a:r>
              <a:rPr lang="zh-CN" altLang="en-US" sz="1200" dirty="0"/>
              <a:t> </a:t>
            </a:r>
            <a:r>
              <a:rPr lang="en-US" altLang="zh-CN" sz="1200" dirty="0"/>
              <a:t>UE 2</a:t>
            </a:r>
            <a:endParaRPr lang="zh-CN" altLang="en-US" sz="1200" dirty="0"/>
          </a:p>
        </p:txBody>
      </p:sp>
      <p:sp>
        <p:nvSpPr>
          <p:cNvPr id="8" name="矩形 7">
            <a:extLst>
              <a:ext uri="{FF2B5EF4-FFF2-40B4-BE49-F238E27FC236}">
                <a16:creationId xmlns:a16="http://schemas.microsoft.com/office/drawing/2014/main" id="{3906856C-AB46-DEA5-F0C9-69921E56C4CA}"/>
              </a:ext>
            </a:extLst>
          </p:cNvPr>
          <p:cNvSpPr/>
          <p:nvPr/>
        </p:nvSpPr>
        <p:spPr>
          <a:xfrm>
            <a:off x="4449286" y="5287325"/>
            <a:ext cx="877740" cy="275898"/>
          </a:xfrm>
          <a:prstGeom prst="rect">
            <a:avLst/>
          </a:prstGeom>
          <a:solidFill>
            <a:schemeClr val="tx2">
              <a:lumMod val="10000"/>
              <a:lumOff val="9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UL</a:t>
            </a:r>
            <a:endParaRPr lang="zh-CN" altLang="en-US" sz="1200" dirty="0">
              <a:solidFill>
                <a:schemeClr val="tx1"/>
              </a:solidFill>
            </a:endParaRPr>
          </a:p>
        </p:txBody>
      </p:sp>
      <p:sp>
        <p:nvSpPr>
          <p:cNvPr id="9" name="矩形 8">
            <a:extLst>
              <a:ext uri="{FF2B5EF4-FFF2-40B4-BE49-F238E27FC236}">
                <a16:creationId xmlns:a16="http://schemas.microsoft.com/office/drawing/2014/main" id="{74C12058-FA23-FD5F-4F6E-F4154DE3EAC9}"/>
              </a:ext>
            </a:extLst>
          </p:cNvPr>
          <p:cNvSpPr/>
          <p:nvPr/>
        </p:nvSpPr>
        <p:spPr>
          <a:xfrm>
            <a:off x="6004561" y="5287325"/>
            <a:ext cx="812035" cy="275898"/>
          </a:xfrm>
          <a:prstGeom prst="rect">
            <a:avLst/>
          </a:prstGeom>
          <a:solidFill>
            <a:schemeClr val="accent2">
              <a:lumMod val="20000"/>
              <a:lumOff val="8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compute</a:t>
            </a:r>
            <a:endParaRPr lang="zh-CN" altLang="en-US" sz="1200" dirty="0">
              <a:solidFill>
                <a:schemeClr val="tx1"/>
              </a:solidFill>
            </a:endParaRPr>
          </a:p>
        </p:txBody>
      </p:sp>
      <p:sp>
        <p:nvSpPr>
          <p:cNvPr id="10" name="矩形 9">
            <a:extLst>
              <a:ext uri="{FF2B5EF4-FFF2-40B4-BE49-F238E27FC236}">
                <a16:creationId xmlns:a16="http://schemas.microsoft.com/office/drawing/2014/main" id="{B3FB0840-A68A-4793-B073-D6A7D8F0C020}"/>
              </a:ext>
            </a:extLst>
          </p:cNvPr>
          <p:cNvSpPr/>
          <p:nvPr/>
        </p:nvSpPr>
        <p:spPr>
          <a:xfrm>
            <a:off x="5327027" y="5287325"/>
            <a:ext cx="677534" cy="275898"/>
          </a:xfrm>
          <a:prstGeom prst="rec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queue</a:t>
            </a:r>
            <a:endParaRPr lang="zh-CN" altLang="en-US" sz="1200" dirty="0">
              <a:solidFill>
                <a:schemeClr val="tx1"/>
              </a:solidFill>
            </a:endParaRPr>
          </a:p>
        </p:txBody>
      </p:sp>
      <p:sp>
        <p:nvSpPr>
          <p:cNvPr id="11" name="文本框 10">
            <a:extLst>
              <a:ext uri="{FF2B5EF4-FFF2-40B4-BE49-F238E27FC236}">
                <a16:creationId xmlns:a16="http://schemas.microsoft.com/office/drawing/2014/main" id="{B56CE07C-47AC-00E1-4B9E-8E1709EA4D06}"/>
              </a:ext>
            </a:extLst>
          </p:cNvPr>
          <p:cNvSpPr txBox="1"/>
          <p:nvPr/>
        </p:nvSpPr>
        <p:spPr>
          <a:xfrm>
            <a:off x="2354456" y="5908093"/>
            <a:ext cx="636714" cy="276998"/>
          </a:xfrm>
          <a:prstGeom prst="rect">
            <a:avLst/>
          </a:prstGeom>
          <a:noFill/>
        </p:spPr>
        <p:txBody>
          <a:bodyPr wrap="none" rtlCol="0">
            <a:spAutoFit/>
          </a:bodyPr>
          <a:lstStyle/>
          <a:p>
            <a:r>
              <a:rPr lang="en-US" altLang="zh-CN" sz="1200" dirty="0"/>
              <a:t>AI</a:t>
            </a:r>
            <a:r>
              <a:rPr lang="zh-CN" altLang="en-US" sz="1200" dirty="0"/>
              <a:t> </a:t>
            </a:r>
            <a:r>
              <a:rPr lang="en-US" altLang="zh-CN" sz="1200" dirty="0"/>
              <a:t>UE 3</a:t>
            </a:r>
            <a:endParaRPr lang="zh-CN" altLang="en-US" sz="1200" dirty="0"/>
          </a:p>
        </p:txBody>
      </p:sp>
      <p:sp>
        <p:nvSpPr>
          <p:cNvPr id="12" name="矩形 11">
            <a:extLst>
              <a:ext uri="{FF2B5EF4-FFF2-40B4-BE49-F238E27FC236}">
                <a16:creationId xmlns:a16="http://schemas.microsoft.com/office/drawing/2014/main" id="{B2AD7433-15BC-105D-6B60-408EE32F8FB2}"/>
              </a:ext>
            </a:extLst>
          </p:cNvPr>
          <p:cNvSpPr/>
          <p:nvPr/>
        </p:nvSpPr>
        <p:spPr>
          <a:xfrm>
            <a:off x="5327026" y="5857994"/>
            <a:ext cx="986207" cy="275898"/>
          </a:xfrm>
          <a:prstGeom prst="rect">
            <a:avLst/>
          </a:prstGeom>
          <a:solidFill>
            <a:schemeClr val="tx2">
              <a:lumMod val="10000"/>
              <a:lumOff val="9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UL</a:t>
            </a:r>
            <a:endParaRPr lang="zh-CN" altLang="en-US" sz="1200" dirty="0">
              <a:solidFill>
                <a:schemeClr val="tx1"/>
              </a:solidFill>
            </a:endParaRPr>
          </a:p>
        </p:txBody>
      </p:sp>
      <p:sp>
        <p:nvSpPr>
          <p:cNvPr id="13" name="矩形 12">
            <a:extLst>
              <a:ext uri="{FF2B5EF4-FFF2-40B4-BE49-F238E27FC236}">
                <a16:creationId xmlns:a16="http://schemas.microsoft.com/office/drawing/2014/main" id="{D636F157-81A1-8D04-9340-D885B648D258}"/>
              </a:ext>
            </a:extLst>
          </p:cNvPr>
          <p:cNvSpPr/>
          <p:nvPr/>
        </p:nvSpPr>
        <p:spPr>
          <a:xfrm>
            <a:off x="6816597" y="5857994"/>
            <a:ext cx="1885086" cy="275898"/>
          </a:xfrm>
          <a:prstGeom prst="rect">
            <a:avLst/>
          </a:prstGeom>
          <a:solidFill>
            <a:schemeClr val="accent2">
              <a:lumMod val="20000"/>
              <a:lumOff val="8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compute</a:t>
            </a:r>
            <a:endParaRPr lang="zh-CN" altLang="en-US" sz="1200" dirty="0">
              <a:solidFill>
                <a:schemeClr val="tx1"/>
              </a:solidFill>
            </a:endParaRPr>
          </a:p>
        </p:txBody>
      </p:sp>
      <p:sp>
        <p:nvSpPr>
          <p:cNvPr id="14" name="矩形 13">
            <a:extLst>
              <a:ext uri="{FF2B5EF4-FFF2-40B4-BE49-F238E27FC236}">
                <a16:creationId xmlns:a16="http://schemas.microsoft.com/office/drawing/2014/main" id="{3834B648-396D-C32F-3F89-D27875ADF6A5}"/>
              </a:ext>
            </a:extLst>
          </p:cNvPr>
          <p:cNvSpPr/>
          <p:nvPr/>
        </p:nvSpPr>
        <p:spPr>
          <a:xfrm>
            <a:off x="6313233" y="5857994"/>
            <a:ext cx="503364" cy="275898"/>
          </a:xfrm>
          <a:prstGeom prst="rec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15" name="矩形 14">
            <a:extLst>
              <a:ext uri="{FF2B5EF4-FFF2-40B4-BE49-F238E27FC236}">
                <a16:creationId xmlns:a16="http://schemas.microsoft.com/office/drawing/2014/main" id="{57141E93-4136-E468-6401-278904606DCE}"/>
              </a:ext>
            </a:extLst>
          </p:cNvPr>
          <p:cNvSpPr/>
          <p:nvPr/>
        </p:nvSpPr>
        <p:spPr>
          <a:xfrm>
            <a:off x="3811687" y="5287325"/>
            <a:ext cx="637597" cy="275898"/>
          </a:xfrm>
          <a:prstGeom prst="rec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queue</a:t>
            </a:r>
            <a:endParaRPr lang="zh-CN" altLang="en-US" sz="1200" dirty="0">
              <a:solidFill>
                <a:schemeClr val="tx1"/>
              </a:solidFill>
            </a:endParaRPr>
          </a:p>
        </p:txBody>
      </p:sp>
      <p:sp>
        <p:nvSpPr>
          <p:cNvPr id="16" name="矩形 15">
            <a:extLst>
              <a:ext uri="{FF2B5EF4-FFF2-40B4-BE49-F238E27FC236}">
                <a16:creationId xmlns:a16="http://schemas.microsoft.com/office/drawing/2014/main" id="{F7B8D7C0-374F-8AD5-28BA-861DA4141D25}"/>
              </a:ext>
            </a:extLst>
          </p:cNvPr>
          <p:cNvSpPr/>
          <p:nvPr/>
        </p:nvSpPr>
        <p:spPr>
          <a:xfrm>
            <a:off x="4219725" y="5857994"/>
            <a:ext cx="1107301" cy="275898"/>
          </a:xfrm>
          <a:prstGeom prst="rec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queue</a:t>
            </a:r>
            <a:endParaRPr lang="zh-CN" altLang="en-US" sz="1200" dirty="0">
              <a:solidFill>
                <a:schemeClr val="tx1"/>
              </a:solidFill>
            </a:endParaRPr>
          </a:p>
        </p:txBody>
      </p:sp>
      <p:grpSp>
        <p:nvGrpSpPr>
          <p:cNvPr id="17" name="组合 16">
            <a:extLst>
              <a:ext uri="{FF2B5EF4-FFF2-40B4-BE49-F238E27FC236}">
                <a16:creationId xmlns:a16="http://schemas.microsoft.com/office/drawing/2014/main" id="{630F36B2-A43F-000F-AFA9-315AA5876EAB}"/>
              </a:ext>
            </a:extLst>
          </p:cNvPr>
          <p:cNvGrpSpPr/>
          <p:nvPr/>
        </p:nvGrpSpPr>
        <p:grpSpPr>
          <a:xfrm>
            <a:off x="3403713" y="5318089"/>
            <a:ext cx="409188" cy="245133"/>
            <a:chOff x="2644523" y="2217010"/>
            <a:chExt cx="389223" cy="133454"/>
          </a:xfrm>
        </p:grpSpPr>
        <p:cxnSp>
          <p:nvCxnSpPr>
            <p:cNvPr id="18" name="直接连接符 17">
              <a:extLst>
                <a:ext uri="{FF2B5EF4-FFF2-40B4-BE49-F238E27FC236}">
                  <a16:creationId xmlns:a16="http://schemas.microsoft.com/office/drawing/2014/main" id="{EF4BD651-7698-F0D1-174F-5A0D64E60881}"/>
                </a:ext>
              </a:extLst>
            </p:cNvPr>
            <p:cNvCxnSpPr/>
            <p:nvPr/>
          </p:nvCxnSpPr>
          <p:spPr>
            <a:xfrm>
              <a:off x="2644523" y="2217010"/>
              <a:ext cx="0" cy="133454"/>
            </a:xfrm>
            <a:prstGeom prst="line">
              <a:avLst/>
            </a:prstGeom>
            <a:ln w="6350"/>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4A6E71F3-8FC8-2ADF-82FC-F19D3756C0A7}"/>
                </a:ext>
              </a:extLst>
            </p:cNvPr>
            <p:cNvCxnSpPr/>
            <p:nvPr/>
          </p:nvCxnSpPr>
          <p:spPr>
            <a:xfrm>
              <a:off x="3033746" y="2217010"/>
              <a:ext cx="0" cy="133454"/>
            </a:xfrm>
            <a:prstGeom prst="line">
              <a:avLst/>
            </a:prstGeom>
            <a:ln w="6350"/>
          </p:spPr>
          <p:style>
            <a:lnRef idx="1">
              <a:schemeClr val="dk1"/>
            </a:lnRef>
            <a:fillRef idx="0">
              <a:schemeClr val="dk1"/>
            </a:fillRef>
            <a:effectRef idx="0">
              <a:schemeClr val="dk1"/>
            </a:effectRef>
            <a:fontRef idx="minor">
              <a:schemeClr val="tx1"/>
            </a:fontRef>
          </p:style>
        </p:cxnSp>
        <p:cxnSp>
          <p:nvCxnSpPr>
            <p:cNvPr id="20" name="直接箭头连接符 19">
              <a:extLst>
                <a:ext uri="{FF2B5EF4-FFF2-40B4-BE49-F238E27FC236}">
                  <a16:creationId xmlns:a16="http://schemas.microsoft.com/office/drawing/2014/main" id="{9196EA30-5375-7C34-09C4-11E5BBD4A777}"/>
                </a:ext>
              </a:extLst>
            </p:cNvPr>
            <p:cNvCxnSpPr/>
            <p:nvPr/>
          </p:nvCxnSpPr>
          <p:spPr>
            <a:xfrm>
              <a:off x="2644523" y="2283737"/>
              <a:ext cx="388127" cy="0"/>
            </a:xfrm>
            <a:prstGeom prst="straightConnector1">
              <a:avLst/>
            </a:prstGeom>
            <a:ln w="6350">
              <a:headEnd type="triangle"/>
              <a:tailEnd type="triangle"/>
            </a:ln>
          </p:spPr>
          <p:style>
            <a:lnRef idx="1">
              <a:schemeClr val="dk1"/>
            </a:lnRef>
            <a:fillRef idx="0">
              <a:schemeClr val="dk1"/>
            </a:fillRef>
            <a:effectRef idx="0">
              <a:schemeClr val="dk1"/>
            </a:effectRef>
            <a:fontRef idx="minor">
              <a:schemeClr val="tx1"/>
            </a:fontRef>
          </p:style>
        </p:cxnSp>
      </p:grpSp>
      <p:grpSp>
        <p:nvGrpSpPr>
          <p:cNvPr id="21" name="组合 20">
            <a:extLst>
              <a:ext uri="{FF2B5EF4-FFF2-40B4-BE49-F238E27FC236}">
                <a16:creationId xmlns:a16="http://schemas.microsoft.com/office/drawing/2014/main" id="{55FCC40E-34B8-F3EE-E669-45CBEEE3D331}"/>
              </a:ext>
            </a:extLst>
          </p:cNvPr>
          <p:cNvGrpSpPr/>
          <p:nvPr/>
        </p:nvGrpSpPr>
        <p:grpSpPr>
          <a:xfrm>
            <a:off x="3811687" y="5888761"/>
            <a:ext cx="409188" cy="245133"/>
            <a:chOff x="2644523" y="2217010"/>
            <a:chExt cx="389223" cy="133454"/>
          </a:xfrm>
        </p:grpSpPr>
        <p:cxnSp>
          <p:nvCxnSpPr>
            <p:cNvPr id="22" name="直接连接符 21">
              <a:extLst>
                <a:ext uri="{FF2B5EF4-FFF2-40B4-BE49-F238E27FC236}">
                  <a16:creationId xmlns:a16="http://schemas.microsoft.com/office/drawing/2014/main" id="{92B62599-0C45-921A-C437-26F141183CAB}"/>
                </a:ext>
              </a:extLst>
            </p:cNvPr>
            <p:cNvCxnSpPr/>
            <p:nvPr/>
          </p:nvCxnSpPr>
          <p:spPr>
            <a:xfrm>
              <a:off x="2644523" y="2217010"/>
              <a:ext cx="0" cy="133454"/>
            </a:xfrm>
            <a:prstGeom prst="line">
              <a:avLst/>
            </a:prstGeom>
            <a:ln w="6350"/>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D48CF5D5-3CEE-8C3A-CE2B-427BFB9EA600}"/>
                </a:ext>
              </a:extLst>
            </p:cNvPr>
            <p:cNvCxnSpPr/>
            <p:nvPr/>
          </p:nvCxnSpPr>
          <p:spPr>
            <a:xfrm>
              <a:off x="3033746" y="2217010"/>
              <a:ext cx="0" cy="133454"/>
            </a:xfrm>
            <a:prstGeom prst="line">
              <a:avLst/>
            </a:prstGeom>
            <a:ln w="6350"/>
          </p:spPr>
          <p:style>
            <a:lnRef idx="1">
              <a:schemeClr val="dk1"/>
            </a:lnRef>
            <a:fillRef idx="0">
              <a:schemeClr val="dk1"/>
            </a:fillRef>
            <a:effectRef idx="0">
              <a:schemeClr val="dk1"/>
            </a:effectRef>
            <a:fontRef idx="minor">
              <a:schemeClr val="tx1"/>
            </a:fontRef>
          </p:style>
        </p:cxnSp>
        <p:cxnSp>
          <p:nvCxnSpPr>
            <p:cNvPr id="24" name="直接箭头连接符 23">
              <a:extLst>
                <a:ext uri="{FF2B5EF4-FFF2-40B4-BE49-F238E27FC236}">
                  <a16:creationId xmlns:a16="http://schemas.microsoft.com/office/drawing/2014/main" id="{1B968DE2-B4A3-C27F-24D1-F7B19E0F2892}"/>
                </a:ext>
              </a:extLst>
            </p:cNvPr>
            <p:cNvCxnSpPr/>
            <p:nvPr/>
          </p:nvCxnSpPr>
          <p:spPr>
            <a:xfrm>
              <a:off x="2644523" y="2283737"/>
              <a:ext cx="388127" cy="0"/>
            </a:xfrm>
            <a:prstGeom prst="straightConnector1">
              <a:avLst/>
            </a:prstGeom>
            <a:ln w="6350">
              <a:headEnd type="triangle"/>
              <a:tailEnd type="triangle"/>
            </a:ln>
          </p:spPr>
          <p:style>
            <a:lnRef idx="1">
              <a:schemeClr val="dk1"/>
            </a:lnRef>
            <a:fillRef idx="0">
              <a:schemeClr val="dk1"/>
            </a:fillRef>
            <a:effectRef idx="0">
              <a:schemeClr val="dk1"/>
            </a:effectRef>
            <a:fontRef idx="minor">
              <a:schemeClr val="tx1"/>
            </a:fontRef>
          </p:style>
        </p:cxnSp>
      </p:grpSp>
      <p:sp>
        <p:nvSpPr>
          <p:cNvPr id="25" name="文本框 24">
            <a:extLst>
              <a:ext uri="{FF2B5EF4-FFF2-40B4-BE49-F238E27FC236}">
                <a16:creationId xmlns:a16="http://schemas.microsoft.com/office/drawing/2014/main" id="{161FE165-4D5B-D826-A31B-00821BE62CDB}"/>
              </a:ext>
            </a:extLst>
          </p:cNvPr>
          <p:cNvSpPr txBox="1"/>
          <p:nvPr/>
        </p:nvSpPr>
        <p:spPr>
          <a:xfrm>
            <a:off x="920878" y="1192876"/>
            <a:ext cx="4322017" cy="523220"/>
          </a:xfrm>
          <a:prstGeom prst="rect">
            <a:avLst/>
          </a:prstGeom>
          <a:noFill/>
        </p:spPr>
        <p:txBody>
          <a:bodyPr wrap="none" rtlCol="0">
            <a:spAutoFit/>
          </a:bodyPr>
          <a:lstStyle/>
          <a:p>
            <a:r>
              <a:rPr lang="en-US" altLang="zh-CN" sz="2800" dirty="0"/>
              <a:t>simulation against baseline</a:t>
            </a:r>
            <a:endParaRPr lang="zh-CN" altLang="en-US" sz="2800" dirty="0"/>
          </a:p>
        </p:txBody>
      </p:sp>
      <p:sp>
        <p:nvSpPr>
          <p:cNvPr id="48" name="文本框 47">
            <a:extLst>
              <a:ext uri="{FF2B5EF4-FFF2-40B4-BE49-F238E27FC236}">
                <a16:creationId xmlns:a16="http://schemas.microsoft.com/office/drawing/2014/main" id="{70364AB0-C20D-B8AE-EC92-FA87C0552DCC}"/>
              </a:ext>
            </a:extLst>
          </p:cNvPr>
          <p:cNvSpPr txBox="1"/>
          <p:nvPr/>
        </p:nvSpPr>
        <p:spPr>
          <a:xfrm>
            <a:off x="8701682" y="5811277"/>
            <a:ext cx="2895344" cy="369332"/>
          </a:xfrm>
          <a:prstGeom prst="rect">
            <a:avLst/>
          </a:prstGeom>
          <a:noFill/>
        </p:spPr>
        <p:txBody>
          <a:bodyPr wrap="none" rtlCol="0">
            <a:spAutoFit/>
          </a:bodyPr>
          <a:lstStyle/>
          <a:p>
            <a:r>
              <a:rPr lang="en-US" altLang="zh-CN" dirty="0"/>
              <a:t>Cannot satisfy </a:t>
            </a:r>
            <a:r>
              <a:rPr lang="en-US" altLang="zh-CN" dirty="0" err="1"/>
              <a:t>E2E</a:t>
            </a:r>
            <a:r>
              <a:rPr lang="en-US" altLang="zh-CN" dirty="0"/>
              <a:t> deadline</a:t>
            </a:r>
            <a:endParaRPr lang="zh-CN" altLang="en-US" dirty="0"/>
          </a:p>
        </p:txBody>
      </p:sp>
      <p:sp>
        <p:nvSpPr>
          <p:cNvPr id="49" name="文本框 48">
            <a:extLst>
              <a:ext uri="{FF2B5EF4-FFF2-40B4-BE49-F238E27FC236}">
                <a16:creationId xmlns:a16="http://schemas.microsoft.com/office/drawing/2014/main" id="{128C6F8B-5258-FD0E-34A7-96865C9FBA9E}"/>
              </a:ext>
            </a:extLst>
          </p:cNvPr>
          <p:cNvSpPr txBox="1"/>
          <p:nvPr/>
        </p:nvSpPr>
        <p:spPr>
          <a:xfrm>
            <a:off x="916343" y="5228995"/>
            <a:ext cx="1497526" cy="369332"/>
          </a:xfrm>
          <a:prstGeom prst="rect">
            <a:avLst/>
          </a:prstGeom>
          <a:noFill/>
        </p:spPr>
        <p:txBody>
          <a:bodyPr wrap="none" rtlCol="0">
            <a:spAutoFit/>
          </a:bodyPr>
          <a:lstStyle/>
          <a:p>
            <a:r>
              <a:rPr lang="en-US" altLang="zh-CN" b="1" dirty="0"/>
              <a:t>Round robin</a:t>
            </a:r>
            <a:endParaRPr lang="zh-CN" altLang="en-US" b="1" dirty="0"/>
          </a:p>
        </p:txBody>
      </p:sp>
      <p:sp>
        <p:nvSpPr>
          <p:cNvPr id="53" name="Text 15">
            <a:extLst>
              <a:ext uri="{FF2B5EF4-FFF2-40B4-BE49-F238E27FC236}">
                <a16:creationId xmlns:a16="http://schemas.microsoft.com/office/drawing/2014/main" id="{592BEFC9-8F60-B99B-47B5-F0BF2EBAE178}"/>
              </a:ext>
            </a:extLst>
          </p:cNvPr>
          <p:cNvSpPr/>
          <p:nvPr/>
        </p:nvSpPr>
        <p:spPr>
          <a:xfrm>
            <a:off x="1928207" y="1781649"/>
            <a:ext cx="1662204" cy="228600"/>
          </a:xfrm>
          <a:prstGeom prst="rect">
            <a:avLst/>
          </a:prstGeom>
          <a:noFill/>
          <a:ln/>
        </p:spPr>
        <p:txBody>
          <a:bodyPr wrap="square" lIns="635" tIns="635" rIns="635" bIns="635" rtlCol="0" anchor="t">
            <a:noAutofit/>
          </a:bodyPr>
          <a:lstStyle/>
          <a:p>
            <a:pPr marL="0" indent="0" algn="l">
              <a:buNone/>
            </a:pPr>
            <a:r>
              <a:rPr lang="en-US" sz="2400" b="1" dirty="0">
                <a:solidFill>
                  <a:srgbClr val="0B1F3A"/>
                </a:solidFill>
                <a:latin typeface="Aptos" pitchFamily="34" charset="0"/>
                <a:ea typeface="Aptos" pitchFamily="34" charset="-122"/>
                <a:cs typeface="Aptos" pitchFamily="34" charset="-120"/>
              </a:rPr>
              <a:t>Schedulers</a:t>
            </a:r>
            <a:endParaRPr lang="en-US" sz="2400" dirty="0"/>
          </a:p>
        </p:txBody>
      </p:sp>
      <p:sp>
        <p:nvSpPr>
          <p:cNvPr id="54" name="Text 16">
            <a:extLst>
              <a:ext uri="{FF2B5EF4-FFF2-40B4-BE49-F238E27FC236}">
                <a16:creationId xmlns:a16="http://schemas.microsoft.com/office/drawing/2014/main" id="{FFA97B03-49B7-04D6-07BA-1573963F69AE}"/>
              </a:ext>
            </a:extLst>
          </p:cNvPr>
          <p:cNvSpPr/>
          <p:nvPr/>
        </p:nvSpPr>
        <p:spPr>
          <a:xfrm>
            <a:off x="3867526" y="1808717"/>
            <a:ext cx="4654170" cy="731520"/>
          </a:xfrm>
          <a:prstGeom prst="rect">
            <a:avLst/>
          </a:prstGeom>
          <a:noFill/>
          <a:ln/>
        </p:spPr>
        <p:txBody>
          <a:bodyPr wrap="square" lIns="635" tIns="635" rIns="635" bIns="635" rtlCol="0" anchor="t">
            <a:noAutofit/>
          </a:bodyPr>
          <a:lstStyle/>
          <a:p>
            <a:pPr marL="0" indent="0" algn="l">
              <a:buNone/>
            </a:pPr>
            <a:r>
              <a:rPr lang="en-US" sz="2000" dirty="0">
                <a:solidFill>
                  <a:srgbClr val="111827"/>
                </a:solidFill>
                <a:latin typeface="Aptos" pitchFamily="34" charset="0"/>
                <a:ea typeface="Aptos" pitchFamily="34" charset="-122"/>
                <a:cs typeface="Aptos" pitchFamily="34" charset="-120"/>
              </a:rPr>
              <a:t>1. Round robin</a:t>
            </a:r>
            <a:endParaRPr lang="en-US" sz="2000" dirty="0"/>
          </a:p>
          <a:p>
            <a:pPr marL="0" indent="0" algn="l">
              <a:buNone/>
            </a:pPr>
            <a:r>
              <a:rPr lang="en-US" sz="2000" dirty="0">
                <a:solidFill>
                  <a:srgbClr val="111827"/>
                </a:solidFill>
                <a:latin typeface="Aptos" pitchFamily="34" charset="0"/>
                <a:ea typeface="Aptos" pitchFamily="34" charset="-122"/>
                <a:cs typeface="Aptos" pitchFamily="34" charset="-120"/>
              </a:rPr>
              <a:t>2. Static budget with average VLM latency</a:t>
            </a:r>
            <a:endParaRPr lang="en-US" sz="2000" dirty="0"/>
          </a:p>
          <a:p>
            <a:pPr marL="0" indent="0" algn="l">
              <a:buNone/>
            </a:pPr>
            <a:r>
              <a:rPr lang="en-US" sz="2000" dirty="0">
                <a:solidFill>
                  <a:srgbClr val="111827"/>
                </a:solidFill>
                <a:latin typeface="Aptos" pitchFamily="34" charset="0"/>
                <a:ea typeface="Aptos" pitchFamily="34" charset="-122"/>
                <a:cs typeface="Aptos" pitchFamily="34" charset="-120"/>
              </a:rPr>
              <a:t>3. Predictive budget using T̂_edge</a:t>
            </a:r>
            <a:endParaRPr lang="en-US" sz="2000" dirty="0"/>
          </a:p>
        </p:txBody>
      </p:sp>
      <p:sp>
        <p:nvSpPr>
          <p:cNvPr id="55" name="Text 17">
            <a:extLst>
              <a:ext uri="{FF2B5EF4-FFF2-40B4-BE49-F238E27FC236}">
                <a16:creationId xmlns:a16="http://schemas.microsoft.com/office/drawing/2014/main" id="{67E27DD9-1140-7938-8434-E554B852427D}"/>
              </a:ext>
            </a:extLst>
          </p:cNvPr>
          <p:cNvSpPr/>
          <p:nvPr/>
        </p:nvSpPr>
        <p:spPr>
          <a:xfrm>
            <a:off x="1928166" y="2879301"/>
            <a:ext cx="1662204" cy="228600"/>
          </a:xfrm>
          <a:prstGeom prst="rect">
            <a:avLst/>
          </a:prstGeom>
          <a:noFill/>
          <a:ln/>
        </p:spPr>
        <p:txBody>
          <a:bodyPr wrap="square" lIns="635" tIns="635" rIns="635" bIns="635" rtlCol="0" anchor="t">
            <a:noAutofit/>
          </a:bodyPr>
          <a:lstStyle/>
          <a:p>
            <a:pPr marL="0" indent="0" algn="l">
              <a:buNone/>
            </a:pPr>
            <a:r>
              <a:rPr lang="en-US" sz="2400" b="1" dirty="0">
                <a:solidFill>
                  <a:srgbClr val="0B1F3A"/>
                </a:solidFill>
                <a:latin typeface="Aptos" pitchFamily="34" charset="0"/>
                <a:ea typeface="Aptos" pitchFamily="34" charset="-122"/>
                <a:cs typeface="Aptos" pitchFamily="34" charset="-120"/>
              </a:rPr>
              <a:t>Metrics</a:t>
            </a:r>
            <a:endParaRPr lang="en-US" sz="2400" dirty="0"/>
          </a:p>
        </p:txBody>
      </p:sp>
      <p:sp>
        <p:nvSpPr>
          <p:cNvPr id="56" name="Text 18">
            <a:extLst>
              <a:ext uri="{FF2B5EF4-FFF2-40B4-BE49-F238E27FC236}">
                <a16:creationId xmlns:a16="http://schemas.microsoft.com/office/drawing/2014/main" id="{F0BE7DCC-EB80-3B6A-F0F2-1B248276D48E}"/>
              </a:ext>
            </a:extLst>
          </p:cNvPr>
          <p:cNvSpPr/>
          <p:nvPr/>
        </p:nvSpPr>
        <p:spPr>
          <a:xfrm>
            <a:off x="3790032" y="2905518"/>
            <a:ext cx="4654170" cy="1143000"/>
          </a:xfrm>
          <a:prstGeom prst="rect">
            <a:avLst/>
          </a:prstGeom>
          <a:noFill/>
          <a:ln/>
        </p:spPr>
        <p:txBody>
          <a:bodyPr wrap="square" lIns="635" tIns="635" rIns="635" bIns="635" rtlCol="0" anchor="t">
            <a:noAutofit/>
          </a:bodyPr>
          <a:lstStyle/>
          <a:p>
            <a:pPr marL="0" indent="0" algn="l">
              <a:buNone/>
            </a:pPr>
            <a:r>
              <a:rPr lang="en-US" sz="2000" dirty="0">
                <a:solidFill>
                  <a:srgbClr val="111827"/>
                </a:solidFill>
                <a:latin typeface="Aptos" pitchFamily="34" charset="0"/>
                <a:ea typeface="Aptos" pitchFamily="34" charset="-122"/>
                <a:cs typeface="Aptos" pitchFamily="34" charset="-120"/>
              </a:rPr>
              <a:t>• prediction MAE</a:t>
            </a:r>
            <a:endParaRPr lang="en-US" sz="2000" dirty="0"/>
          </a:p>
          <a:p>
            <a:pPr marL="0" indent="0" algn="l">
              <a:buNone/>
            </a:pPr>
            <a:r>
              <a:rPr lang="en-US" sz="2000" dirty="0">
                <a:solidFill>
                  <a:srgbClr val="111827"/>
                </a:solidFill>
                <a:latin typeface="Aptos" pitchFamily="34" charset="0"/>
                <a:ea typeface="Aptos" pitchFamily="34" charset="-122"/>
                <a:cs typeface="Aptos" pitchFamily="34" charset="-120"/>
              </a:rPr>
              <a:t>• E2E deadline satisfaction</a:t>
            </a:r>
            <a:endParaRPr lang="en-US" sz="2000" dirty="0"/>
          </a:p>
          <a:p>
            <a:pPr marL="0" indent="0" algn="l">
              <a:buNone/>
            </a:pPr>
            <a:r>
              <a:rPr lang="en-US" sz="2000" dirty="0">
                <a:solidFill>
                  <a:srgbClr val="111827"/>
                </a:solidFill>
                <a:latin typeface="Aptos" pitchFamily="34" charset="0"/>
                <a:ea typeface="Aptos" pitchFamily="34" charset="-122"/>
                <a:cs typeface="Aptos" pitchFamily="34" charset="-120"/>
              </a:rPr>
              <a:t>• P95 confirmation delay</a:t>
            </a:r>
            <a:endParaRPr lang="en-US" sz="2000" dirty="0"/>
          </a:p>
          <a:p>
            <a:pPr marL="0" indent="0" algn="l">
              <a:buNone/>
            </a:pPr>
            <a:r>
              <a:rPr lang="en-US" sz="2000" dirty="0">
                <a:solidFill>
                  <a:srgbClr val="111827"/>
                </a:solidFill>
                <a:latin typeface="Aptos" pitchFamily="34" charset="0"/>
                <a:ea typeface="Aptos" pitchFamily="34" charset="-122"/>
                <a:cs typeface="Aptos" pitchFamily="34" charset="-120"/>
              </a:rPr>
              <a:t>• upload wait time</a:t>
            </a:r>
            <a:endParaRPr lang="en-US" sz="2000" dirty="0"/>
          </a:p>
          <a:p>
            <a:pPr marL="0" indent="0" algn="l">
              <a:buNone/>
            </a:pPr>
            <a:r>
              <a:rPr lang="en-US" sz="2000" dirty="0">
                <a:solidFill>
                  <a:srgbClr val="111827"/>
                </a:solidFill>
                <a:latin typeface="Aptos" pitchFamily="34" charset="0"/>
                <a:ea typeface="Aptos" pitchFamily="34" charset="-122"/>
                <a:cs typeface="Aptos" pitchFamily="34" charset="-120"/>
              </a:rPr>
              <a:t>• performance vs number of clients</a:t>
            </a:r>
            <a:endParaRPr lang="en-US" sz="2000" dirty="0"/>
          </a:p>
        </p:txBody>
      </p:sp>
    </p:spTree>
    <p:extLst>
      <p:ext uri="{BB962C8B-B14F-4D97-AF65-F5344CB8AC3E}">
        <p14:creationId xmlns:p14="http://schemas.microsoft.com/office/powerpoint/2010/main" val="1671222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C47E3-0DBD-8868-E969-13ABE83FAD93}"/>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6A14E38-0C8F-E5BA-36F0-1905D90D4B00}"/>
              </a:ext>
            </a:extLst>
          </p:cNvPr>
          <p:cNvSpPr>
            <a:spLocks noGrp="1"/>
          </p:cNvSpPr>
          <p:nvPr>
            <p:ph type="sldNum" sz="quarter" idx="12"/>
          </p:nvPr>
        </p:nvSpPr>
        <p:spPr/>
        <p:txBody>
          <a:bodyPr/>
          <a:lstStyle/>
          <a:p>
            <a:fld id="{05D9B913-E621-4E85-A790-32644CC04F9B}" type="slidenum">
              <a:rPr lang="zh-CN" altLang="en-US" smtClean="0"/>
              <a:t>8</a:t>
            </a:fld>
            <a:endParaRPr lang="zh-CN" altLang="en-US" dirty="0"/>
          </a:p>
        </p:txBody>
      </p:sp>
      <p:sp>
        <p:nvSpPr>
          <p:cNvPr id="5" name="文本框 4">
            <a:extLst>
              <a:ext uri="{FF2B5EF4-FFF2-40B4-BE49-F238E27FC236}">
                <a16:creationId xmlns:a16="http://schemas.microsoft.com/office/drawing/2014/main" id="{568CD3C5-AB77-C581-D378-863B637C24EB}"/>
              </a:ext>
            </a:extLst>
          </p:cNvPr>
          <p:cNvSpPr txBox="1"/>
          <p:nvPr/>
        </p:nvSpPr>
        <p:spPr>
          <a:xfrm>
            <a:off x="663259" y="421285"/>
            <a:ext cx="3778727" cy="707886"/>
          </a:xfrm>
          <a:prstGeom prst="rect">
            <a:avLst/>
          </a:prstGeom>
          <a:noFill/>
        </p:spPr>
        <p:txBody>
          <a:bodyPr wrap="none" rtlCol="0">
            <a:spAutoFit/>
          </a:bodyPr>
          <a:lstStyle/>
          <a:p>
            <a:r>
              <a:rPr lang="en-US" altLang="zh-CN" sz="4000" b="1" dirty="0">
                <a:latin typeface="Calibri" panose="020F0502020204030204" pitchFamily="34" charset="0"/>
                <a:ea typeface="Calibri" panose="020F0502020204030204" pitchFamily="34" charset="0"/>
                <a:cs typeface="Calibri" panose="020F0502020204030204" pitchFamily="34" charset="0"/>
              </a:rPr>
              <a:t>Project timelines</a:t>
            </a:r>
            <a:endParaRPr lang="zh-CN" altLang="en-US" sz="4000" b="1" dirty="0">
              <a:latin typeface="Calibri" panose="020F0502020204030204" pitchFamily="34" charset="0"/>
              <a:cs typeface="Calibri" panose="020F0502020204030204" pitchFamily="34" charset="0"/>
            </a:endParaRPr>
          </a:p>
        </p:txBody>
      </p:sp>
      <p:sp>
        <p:nvSpPr>
          <p:cNvPr id="6" name="Shape 7">
            <a:extLst>
              <a:ext uri="{FF2B5EF4-FFF2-40B4-BE49-F238E27FC236}">
                <a16:creationId xmlns:a16="http://schemas.microsoft.com/office/drawing/2014/main" id="{C04FB148-27C7-4DD0-BA51-41D081E6175F}"/>
              </a:ext>
            </a:extLst>
          </p:cNvPr>
          <p:cNvSpPr/>
          <p:nvPr/>
        </p:nvSpPr>
        <p:spPr>
          <a:xfrm>
            <a:off x="685800" y="1508760"/>
            <a:ext cx="2057400" cy="411480"/>
          </a:xfrm>
          <a:prstGeom prst="roundRect">
            <a:avLst>
              <a:gd name="adj" fmla="val 17778"/>
            </a:avLst>
          </a:prstGeom>
          <a:solidFill>
            <a:srgbClr val="FFFFFF"/>
          </a:solidFill>
          <a:ln w="13970">
            <a:solidFill>
              <a:srgbClr val="19A7A5"/>
            </a:solidFill>
            <a:prstDash val="solid"/>
          </a:ln>
        </p:spPr>
      </p:sp>
      <p:sp>
        <p:nvSpPr>
          <p:cNvPr id="7" name="Text 8">
            <a:extLst>
              <a:ext uri="{FF2B5EF4-FFF2-40B4-BE49-F238E27FC236}">
                <a16:creationId xmlns:a16="http://schemas.microsoft.com/office/drawing/2014/main" id="{48165B91-2996-49D9-BB42-941DAEFC3354}"/>
              </a:ext>
            </a:extLst>
          </p:cNvPr>
          <p:cNvSpPr/>
          <p:nvPr/>
        </p:nvSpPr>
        <p:spPr>
          <a:xfrm>
            <a:off x="731520" y="1581912"/>
            <a:ext cx="1965960" cy="301752"/>
          </a:xfrm>
          <a:prstGeom prst="rect">
            <a:avLst/>
          </a:prstGeom>
          <a:noFill/>
          <a:ln/>
        </p:spPr>
        <p:txBody>
          <a:bodyPr wrap="square" lIns="254" tIns="254" rIns="254" bIns="254" rtlCol="0" anchor="ctr">
            <a:normAutofit/>
          </a:bodyPr>
          <a:lstStyle/>
          <a:p>
            <a:pPr marL="0" indent="0" algn="ctr">
              <a:buNone/>
            </a:pPr>
            <a:r>
              <a:rPr lang="en-US" b="1" dirty="0">
                <a:solidFill>
                  <a:srgbClr val="19A7A5"/>
                </a:solidFill>
                <a:latin typeface="Calibri" panose="020F0502020204030204" pitchFamily="34" charset="0"/>
                <a:cs typeface="Calibri" panose="020F0502020204030204" pitchFamily="34" charset="0"/>
              </a:rPr>
              <a:t>23 Sep–3 Oct</a:t>
            </a:r>
            <a:endParaRPr lang="en-US" dirty="0">
              <a:latin typeface="Calibri" panose="020F0502020204030204" pitchFamily="34" charset="0"/>
              <a:cs typeface="Calibri" panose="020F0502020204030204" pitchFamily="34" charset="0"/>
            </a:endParaRPr>
          </a:p>
        </p:txBody>
      </p:sp>
      <p:sp>
        <p:nvSpPr>
          <p:cNvPr id="8" name="Shape 9">
            <a:extLst>
              <a:ext uri="{FF2B5EF4-FFF2-40B4-BE49-F238E27FC236}">
                <a16:creationId xmlns:a16="http://schemas.microsoft.com/office/drawing/2014/main" id="{5F892545-44F3-4526-A1E3-C2E8BEC44147}"/>
              </a:ext>
            </a:extLst>
          </p:cNvPr>
          <p:cNvSpPr/>
          <p:nvPr/>
        </p:nvSpPr>
        <p:spPr>
          <a:xfrm>
            <a:off x="685800" y="2057400"/>
            <a:ext cx="2057400" cy="1051560"/>
          </a:xfrm>
          <a:prstGeom prst="roundRect">
            <a:avLst>
              <a:gd name="adj" fmla="val 6957"/>
            </a:avLst>
          </a:prstGeom>
          <a:solidFill>
            <a:srgbClr val="E9FBF9"/>
          </a:solidFill>
          <a:ln w="7620">
            <a:solidFill>
              <a:srgbClr val="19A7A5"/>
            </a:solidFill>
            <a:prstDash val="solid"/>
          </a:ln>
        </p:spPr>
      </p:sp>
      <p:sp>
        <p:nvSpPr>
          <p:cNvPr id="9" name="Text 10">
            <a:extLst>
              <a:ext uri="{FF2B5EF4-FFF2-40B4-BE49-F238E27FC236}">
                <a16:creationId xmlns:a16="http://schemas.microsoft.com/office/drawing/2014/main" id="{E6D26500-DFA2-4B72-B8E4-B85FC9FFC604}"/>
              </a:ext>
            </a:extLst>
          </p:cNvPr>
          <p:cNvSpPr/>
          <p:nvPr/>
        </p:nvSpPr>
        <p:spPr>
          <a:xfrm>
            <a:off x="795528" y="2267712"/>
            <a:ext cx="1828800" cy="566928"/>
          </a:xfrm>
          <a:prstGeom prst="rect">
            <a:avLst/>
          </a:prstGeom>
          <a:noFill/>
          <a:ln/>
        </p:spPr>
        <p:txBody>
          <a:bodyPr wrap="square" lIns="635" tIns="635" rIns="635" bIns="635" rtlCol="0" anchor="t">
            <a:normAutofit/>
          </a:bodyPr>
          <a:lstStyle/>
          <a:p>
            <a:pPr marL="0" indent="0" algn="ctr">
              <a:buNone/>
            </a:pPr>
            <a:r>
              <a:rPr lang="en-US" dirty="0">
                <a:solidFill>
                  <a:srgbClr val="111827"/>
                </a:solidFill>
                <a:latin typeface="Calibri" panose="020F0502020204030204" pitchFamily="34" charset="0"/>
                <a:ea typeface="Aptos" pitchFamily="34" charset="-122"/>
                <a:cs typeface="Calibri" panose="020F0502020204030204" pitchFamily="34" charset="0"/>
              </a:rPr>
              <a:t>Local infer + verification path</a:t>
            </a:r>
            <a:endParaRPr lang="en-US" dirty="0">
              <a:latin typeface="Calibri" panose="020F0502020204030204" pitchFamily="34" charset="0"/>
              <a:cs typeface="Calibri" panose="020F0502020204030204" pitchFamily="34" charset="0"/>
            </a:endParaRPr>
          </a:p>
        </p:txBody>
      </p:sp>
      <p:sp>
        <p:nvSpPr>
          <p:cNvPr id="10" name="Shape 11">
            <a:extLst>
              <a:ext uri="{FF2B5EF4-FFF2-40B4-BE49-F238E27FC236}">
                <a16:creationId xmlns:a16="http://schemas.microsoft.com/office/drawing/2014/main" id="{1FC336DC-ABBB-4531-AC34-9340C839FD9F}"/>
              </a:ext>
            </a:extLst>
          </p:cNvPr>
          <p:cNvSpPr/>
          <p:nvPr/>
        </p:nvSpPr>
        <p:spPr>
          <a:xfrm>
            <a:off x="2743200" y="2587752"/>
            <a:ext cx="365760" cy="0"/>
          </a:xfrm>
          <a:prstGeom prst="line">
            <a:avLst/>
          </a:prstGeom>
          <a:noFill/>
          <a:ln w="20320">
            <a:solidFill>
              <a:srgbClr val="6B7280"/>
            </a:solidFill>
            <a:prstDash val="solid"/>
            <a:headEnd type="none"/>
            <a:tailEnd type="triangle"/>
          </a:ln>
        </p:spPr>
      </p:sp>
      <p:sp>
        <p:nvSpPr>
          <p:cNvPr id="11" name="Shape 12">
            <a:extLst>
              <a:ext uri="{FF2B5EF4-FFF2-40B4-BE49-F238E27FC236}">
                <a16:creationId xmlns:a16="http://schemas.microsoft.com/office/drawing/2014/main" id="{54D5E674-C998-4AE9-90F5-5A384A49ACEB}"/>
              </a:ext>
            </a:extLst>
          </p:cNvPr>
          <p:cNvSpPr/>
          <p:nvPr/>
        </p:nvSpPr>
        <p:spPr>
          <a:xfrm>
            <a:off x="2926080" y="1508760"/>
            <a:ext cx="2057400" cy="411480"/>
          </a:xfrm>
          <a:prstGeom prst="roundRect">
            <a:avLst>
              <a:gd name="adj" fmla="val 17778"/>
            </a:avLst>
          </a:prstGeom>
          <a:solidFill>
            <a:srgbClr val="FFFFFF"/>
          </a:solidFill>
          <a:ln w="13970">
            <a:solidFill>
              <a:srgbClr val="F2994A"/>
            </a:solidFill>
            <a:prstDash val="solid"/>
          </a:ln>
        </p:spPr>
      </p:sp>
      <p:sp>
        <p:nvSpPr>
          <p:cNvPr id="12" name="Text 13">
            <a:extLst>
              <a:ext uri="{FF2B5EF4-FFF2-40B4-BE49-F238E27FC236}">
                <a16:creationId xmlns:a16="http://schemas.microsoft.com/office/drawing/2014/main" id="{F6C94170-9AC5-4167-938E-AFCC450AA845}"/>
              </a:ext>
            </a:extLst>
          </p:cNvPr>
          <p:cNvSpPr/>
          <p:nvPr/>
        </p:nvSpPr>
        <p:spPr>
          <a:xfrm>
            <a:off x="2971800" y="1581912"/>
            <a:ext cx="1965960" cy="301752"/>
          </a:xfrm>
          <a:prstGeom prst="rect">
            <a:avLst/>
          </a:prstGeom>
          <a:noFill/>
          <a:ln/>
        </p:spPr>
        <p:txBody>
          <a:bodyPr wrap="square" lIns="254" tIns="254" rIns="254" bIns="254" rtlCol="0" anchor="ctr">
            <a:normAutofit/>
          </a:bodyPr>
          <a:lstStyle/>
          <a:p>
            <a:pPr marL="0" indent="0" algn="ctr">
              <a:buNone/>
            </a:pPr>
            <a:r>
              <a:rPr lang="en-US" b="1" dirty="0">
                <a:solidFill>
                  <a:srgbClr val="F2994A"/>
                </a:solidFill>
                <a:latin typeface="Calibri" panose="020F0502020204030204" pitchFamily="34" charset="0"/>
                <a:cs typeface="Calibri" panose="020F0502020204030204" pitchFamily="34" charset="0"/>
              </a:rPr>
              <a:t>4–17 Oct</a:t>
            </a:r>
            <a:endParaRPr lang="en-US" dirty="0">
              <a:latin typeface="Calibri" panose="020F0502020204030204" pitchFamily="34" charset="0"/>
              <a:cs typeface="Calibri" panose="020F0502020204030204" pitchFamily="34" charset="0"/>
            </a:endParaRPr>
          </a:p>
        </p:txBody>
      </p:sp>
      <p:sp>
        <p:nvSpPr>
          <p:cNvPr id="13" name="Shape 14">
            <a:extLst>
              <a:ext uri="{FF2B5EF4-FFF2-40B4-BE49-F238E27FC236}">
                <a16:creationId xmlns:a16="http://schemas.microsoft.com/office/drawing/2014/main" id="{BC5604DD-949E-4965-BA62-F440BD23F489}"/>
              </a:ext>
            </a:extLst>
          </p:cNvPr>
          <p:cNvSpPr/>
          <p:nvPr/>
        </p:nvSpPr>
        <p:spPr>
          <a:xfrm>
            <a:off x="2926080" y="2057400"/>
            <a:ext cx="2057400" cy="1051560"/>
          </a:xfrm>
          <a:prstGeom prst="roundRect">
            <a:avLst>
              <a:gd name="adj" fmla="val 6957"/>
            </a:avLst>
          </a:prstGeom>
          <a:solidFill>
            <a:srgbClr val="FFF4E6"/>
          </a:solidFill>
          <a:ln w="7620">
            <a:solidFill>
              <a:srgbClr val="F2994A"/>
            </a:solidFill>
            <a:prstDash val="solid"/>
          </a:ln>
        </p:spPr>
      </p:sp>
      <p:sp>
        <p:nvSpPr>
          <p:cNvPr id="14" name="Text 15">
            <a:extLst>
              <a:ext uri="{FF2B5EF4-FFF2-40B4-BE49-F238E27FC236}">
                <a16:creationId xmlns:a16="http://schemas.microsoft.com/office/drawing/2014/main" id="{45D592E4-DEB8-4E3E-B505-9C606637B4C1}"/>
              </a:ext>
            </a:extLst>
          </p:cNvPr>
          <p:cNvSpPr/>
          <p:nvPr/>
        </p:nvSpPr>
        <p:spPr>
          <a:xfrm>
            <a:off x="3035808" y="2267712"/>
            <a:ext cx="1828800" cy="566928"/>
          </a:xfrm>
          <a:prstGeom prst="rect">
            <a:avLst/>
          </a:prstGeom>
          <a:noFill/>
          <a:ln/>
        </p:spPr>
        <p:txBody>
          <a:bodyPr wrap="square" lIns="635" tIns="635" rIns="635" bIns="635" rtlCol="0" anchor="t">
            <a:normAutofit/>
          </a:bodyPr>
          <a:lstStyle/>
          <a:p>
            <a:pPr marL="0" indent="0" algn="ctr">
              <a:buNone/>
            </a:pPr>
            <a:r>
              <a:rPr lang="en-US" dirty="0">
                <a:solidFill>
                  <a:srgbClr val="111827"/>
                </a:solidFill>
                <a:latin typeface="Calibri" panose="020F0502020204030204" pitchFamily="34" charset="0"/>
                <a:ea typeface="Aptos" pitchFamily="34" charset="-122"/>
                <a:cs typeface="Calibri" panose="020F0502020204030204" pitchFamily="34" charset="0"/>
              </a:rPr>
              <a:t>VLM latency traces + predictor training</a:t>
            </a:r>
            <a:endParaRPr lang="en-US" dirty="0">
              <a:latin typeface="Calibri" panose="020F0502020204030204" pitchFamily="34" charset="0"/>
              <a:cs typeface="Calibri" panose="020F0502020204030204" pitchFamily="34" charset="0"/>
            </a:endParaRPr>
          </a:p>
        </p:txBody>
      </p:sp>
      <p:sp>
        <p:nvSpPr>
          <p:cNvPr id="15" name="Shape 16">
            <a:extLst>
              <a:ext uri="{FF2B5EF4-FFF2-40B4-BE49-F238E27FC236}">
                <a16:creationId xmlns:a16="http://schemas.microsoft.com/office/drawing/2014/main" id="{75693354-14A4-4A73-BD62-B2FA25E1AAE4}"/>
              </a:ext>
            </a:extLst>
          </p:cNvPr>
          <p:cNvSpPr/>
          <p:nvPr/>
        </p:nvSpPr>
        <p:spPr>
          <a:xfrm>
            <a:off x="4983480" y="2587752"/>
            <a:ext cx="365760" cy="0"/>
          </a:xfrm>
          <a:prstGeom prst="line">
            <a:avLst/>
          </a:prstGeom>
          <a:noFill/>
          <a:ln w="20320">
            <a:solidFill>
              <a:srgbClr val="6B7280"/>
            </a:solidFill>
            <a:prstDash val="solid"/>
            <a:headEnd type="none"/>
            <a:tailEnd type="triangle"/>
          </a:ln>
        </p:spPr>
      </p:sp>
      <p:sp>
        <p:nvSpPr>
          <p:cNvPr id="16" name="Shape 17">
            <a:extLst>
              <a:ext uri="{FF2B5EF4-FFF2-40B4-BE49-F238E27FC236}">
                <a16:creationId xmlns:a16="http://schemas.microsoft.com/office/drawing/2014/main" id="{8D6EDE32-4917-48E0-B6B8-05D89BC7AD9F}"/>
              </a:ext>
            </a:extLst>
          </p:cNvPr>
          <p:cNvSpPr/>
          <p:nvPr/>
        </p:nvSpPr>
        <p:spPr>
          <a:xfrm>
            <a:off x="5166360" y="1508760"/>
            <a:ext cx="2057400" cy="411480"/>
          </a:xfrm>
          <a:prstGeom prst="roundRect">
            <a:avLst>
              <a:gd name="adj" fmla="val 17778"/>
            </a:avLst>
          </a:prstGeom>
          <a:solidFill>
            <a:srgbClr val="FFFFFF"/>
          </a:solidFill>
          <a:ln w="13970">
            <a:solidFill>
              <a:srgbClr val="2F80ED"/>
            </a:solidFill>
            <a:prstDash val="solid"/>
          </a:ln>
        </p:spPr>
      </p:sp>
      <p:sp>
        <p:nvSpPr>
          <p:cNvPr id="17" name="Text 18">
            <a:extLst>
              <a:ext uri="{FF2B5EF4-FFF2-40B4-BE49-F238E27FC236}">
                <a16:creationId xmlns:a16="http://schemas.microsoft.com/office/drawing/2014/main" id="{35BE3CD4-AFA5-451B-8BD8-E9ADFD1B7642}"/>
              </a:ext>
            </a:extLst>
          </p:cNvPr>
          <p:cNvSpPr/>
          <p:nvPr/>
        </p:nvSpPr>
        <p:spPr>
          <a:xfrm>
            <a:off x="5212080" y="1581912"/>
            <a:ext cx="1965960" cy="301752"/>
          </a:xfrm>
          <a:prstGeom prst="rect">
            <a:avLst/>
          </a:prstGeom>
          <a:noFill/>
          <a:ln/>
        </p:spPr>
        <p:txBody>
          <a:bodyPr wrap="square" lIns="254" tIns="254" rIns="254" bIns="254" rtlCol="0" anchor="ctr">
            <a:normAutofit/>
          </a:bodyPr>
          <a:lstStyle/>
          <a:p>
            <a:pPr marL="0" indent="0" algn="ctr">
              <a:buNone/>
            </a:pPr>
            <a:r>
              <a:rPr lang="en-US" b="1" dirty="0">
                <a:solidFill>
                  <a:srgbClr val="2F80ED"/>
                </a:solidFill>
                <a:latin typeface="Calibri" panose="020F0502020204030204" pitchFamily="34" charset="0"/>
                <a:cs typeface="Calibri" panose="020F0502020204030204" pitchFamily="34" charset="0"/>
              </a:rPr>
              <a:t>18–31 Oct</a:t>
            </a:r>
            <a:endParaRPr lang="en-US" dirty="0">
              <a:latin typeface="Calibri" panose="020F0502020204030204" pitchFamily="34" charset="0"/>
              <a:cs typeface="Calibri" panose="020F0502020204030204" pitchFamily="34" charset="0"/>
            </a:endParaRPr>
          </a:p>
        </p:txBody>
      </p:sp>
      <p:sp>
        <p:nvSpPr>
          <p:cNvPr id="18" name="Shape 19">
            <a:extLst>
              <a:ext uri="{FF2B5EF4-FFF2-40B4-BE49-F238E27FC236}">
                <a16:creationId xmlns:a16="http://schemas.microsoft.com/office/drawing/2014/main" id="{35E17AFE-6D81-4A96-BA6D-7EAA42EB9312}"/>
              </a:ext>
            </a:extLst>
          </p:cNvPr>
          <p:cNvSpPr/>
          <p:nvPr/>
        </p:nvSpPr>
        <p:spPr>
          <a:xfrm>
            <a:off x="5166360" y="2057400"/>
            <a:ext cx="2057400" cy="1051560"/>
          </a:xfrm>
          <a:prstGeom prst="roundRect">
            <a:avLst>
              <a:gd name="adj" fmla="val 6957"/>
            </a:avLst>
          </a:prstGeom>
          <a:solidFill>
            <a:srgbClr val="E9FBF9"/>
          </a:solidFill>
          <a:ln w="7620">
            <a:solidFill>
              <a:srgbClr val="2F80ED"/>
            </a:solidFill>
            <a:prstDash val="solid"/>
          </a:ln>
        </p:spPr>
      </p:sp>
      <p:sp>
        <p:nvSpPr>
          <p:cNvPr id="19" name="Text 20">
            <a:extLst>
              <a:ext uri="{FF2B5EF4-FFF2-40B4-BE49-F238E27FC236}">
                <a16:creationId xmlns:a16="http://schemas.microsoft.com/office/drawing/2014/main" id="{0A960AA4-9A26-483A-9A67-2E94C6E372DB}"/>
              </a:ext>
            </a:extLst>
          </p:cNvPr>
          <p:cNvSpPr/>
          <p:nvPr/>
        </p:nvSpPr>
        <p:spPr>
          <a:xfrm>
            <a:off x="5276088" y="2267712"/>
            <a:ext cx="1828800" cy="566928"/>
          </a:xfrm>
          <a:prstGeom prst="rect">
            <a:avLst/>
          </a:prstGeom>
          <a:noFill/>
          <a:ln/>
        </p:spPr>
        <p:txBody>
          <a:bodyPr wrap="square" lIns="635" tIns="635" rIns="635" bIns="635" rtlCol="0" anchor="t">
            <a:normAutofit/>
          </a:bodyPr>
          <a:lstStyle/>
          <a:p>
            <a:pPr marL="0" indent="0" algn="ctr">
              <a:buNone/>
            </a:pPr>
            <a:r>
              <a:rPr lang="en-US" dirty="0">
                <a:solidFill>
                  <a:srgbClr val="111827"/>
                </a:solidFill>
                <a:latin typeface="Calibri" panose="020F0502020204030204" pitchFamily="34" charset="0"/>
                <a:ea typeface="Aptos" pitchFamily="34" charset="-122"/>
                <a:cs typeface="Calibri" panose="020F0502020204030204" pitchFamily="34" charset="0"/>
              </a:rPr>
              <a:t>Dynamic budget + upload scheduler</a:t>
            </a:r>
            <a:endParaRPr lang="en-US" dirty="0">
              <a:latin typeface="Calibri" panose="020F0502020204030204" pitchFamily="34" charset="0"/>
              <a:cs typeface="Calibri" panose="020F0502020204030204" pitchFamily="34" charset="0"/>
            </a:endParaRPr>
          </a:p>
        </p:txBody>
      </p:sp>
      <p:sp>
        <p:nvSpPr>
          <p:cNvPr id="20" name="Shape 21">
            <a:extLst>
              <a:ext uri="{FF2B5EF4-FFF2-40B4-BE49-F238E27FC236}">
                <a16:creationId xmlns:a16="http://schemas.microsoft.com/office/drawing/2014/main" id="{7AEEDB8D-992F-4B4B-96AE-CB158C2BA908}"/>
              </a:ext>
            </a:extLst>
          </p:cNvPr>
          <p:cNvSpPr/>
          <p:nvPr/>
        </p:nvSpPr>
        <p:spPr>
          <a:xfrm>
            <a:off x="7223760" y="2587752"/>
            <a:ext cx="365760" cy="0"/>
          </a:xfrm>
          <a:prstGeom prst="line">
            <a:avLst/>
          </a:prstGeom>
          <a:noFill/>
          <a:ln w="20320">
            <a:solidFill>
              <a:srgbClr val="6B7280"/>
            </a:solidFill>
            <a:prstDash val="solid"/>
            <a:headEnd type="none"/>
            <a:tailEnd type="triangle"/>
          </a:ln>
        </p:spPr>
      </p:sp>
      <p:sp>
        <p:nvSpPr>
          <p:cNvPr id="21" name="Shape 22">
            <a:extLst>
              <a:ext uri="{FF2B5EF4-FFF2-40B4-BE49-F238E27FC236}">
                <a16:creationId xmlns:a16="http://schemas.microsoft.com/office/drawing/2014/main" id="{12B6AA26-92F8-4D4D-9CCA-A5BB23217C87}"/>
              </a:ext>
            </a:extLst>
          </p:cNvPr>
          <p:cNvSpPr/>
          <p:nvPr/>
        </p:nvSpPr>
        <p:spPr>
          <a:xfrm>
            <a:off x="7406640" y="1508760"/>
            <a:ext cx="2057400" cy="411480"/>
          </a:xfrm>
          <a:prstGeom prst="roundRect">
            <a:avLst>
              <a:gd name="adj" fmla="val 17778"/>
            </a:avLst>
          </a:prstGeom>
          <a:solidFill>
            <a:srgbClr val="FFFFFF"/>
          </a:solidFill>
          <a:ln w="13970">
            <a:solidFill>
              <a:srgbClr val="27AE60"/>
            </a:solidFill>
            <a:prstDash val="solid"/>
          </a:ln>
        </p:spPr>
      </p:sp>
      <p:sp>
        <p:nvSpPr>
          <p:cNvPr id="22" name="Text 23">
            <a:extLst>
              <a:ext uri="{FF2B5EF4-FFF2-40B4-BE49-F238E27FC236}">
                <a16:creationId xmlns:a16="http://schemas.microsoft.com/office/drawing/2014/main" id="{1E757097-000D-4741-BD61-6CF472C54624}"/>
              </a:ext>
            </a:extLst>
          </p:cNvPr>
          <p:cNvSpPr/>
          <p:nvPr/>
        </p:nvSpPr>
        <p:spPr>
          <a:xfrm>
            <a:off x="7452360" y="1581912"/>
            <a:ext cx="1965960" cy="301752"/>
          </a:xfrm>
          <a:prstGeom prst="rect">
            <a:avLst/>
          </a:prstGeom>
          <a:noFill/>
          <a:ln/>
        </p:spPr>
        <p:txBody>
          <a:bodyPr wrap="square" lIns="254" tIns="254" rIns="254" bIns="254" rtlCol="0" anchor="ctr">
            <a:normAutofit/>
          </a:bodyPr>
          <a:lstStyle/>
          <a:p>
            <a:pPr marL="0" indent="0" algn="ctr">
              <a:buNone/>
            </a:pPr>
            <a:r>
              <a:rPr lang="en-US" b="1" dirty="0">
                <a:solidFill>
                  <a:srgbClr val="27AE60"/>
                </a:solidFill>
                <a:latin typeface="Calibri" panose="020F0502020204030204" pitchFamily="34" charset="0"/>
                <a:cs typeface="Calibri" panose="020F0502020204030204" pitchFamily="34" charset="0"/>
              </a:rPr>
              <a:t>1–12 Nov</a:t>
            </a:r>
            <a:endParaRPr lang="en-US" dirty="0">
              <a:latin typeface="Calibri" panose="020F0502020204030204" pitchFamily="34" charset="0"/>
              <a:cs typeface="Calibri" panose="020F0502020204030204" pitchFamily="34" charset="0"/>
            </a:endParaRPr>
          </a:p>
        </p:txBody>
      </p:sp>
      <p:sp>
        <p:nvSpPr>
          <p:cNvPr id="23" name="Shape 24">
            <a:extLst>
              <a:ext uri="{FF2B5EF4-FFF2-40B4-BE49-F238E27FC236}">
                <a16:creationId xmlns:a16="http://schemas.microsoft.com/office/drawing/2014/main" id="{04F55A35-DB05-488B-A164-3C12E2129C86}"/>
              </a:ext>
            </a:extLst>
          </p:cNvPr>
          <p:cNvSpPr/>
          <p:nvPr/>
        </p:nvSpPr>
        <p:spPr>
          <a:xfrm>
            <a:off x="7406640" y="2057400"/>
            <a:ext cx="2057400" cy="1051560"/>
          </a:xfrm>
          <a:prstGeom prst="roundRect">
            <a:avLst>
              <a:gd name="adj" fmla="val 6957"/>
            </a:avLst>
          </a:prstGeom>
          <a:solidFill>
            <a:srgbClr val="FFF4E6"/>
          </a:solidFill>
          <a:ln w="7620">
            <a:solidFill>
              <a:srgbClr val="27AE60"/>
            </a:solidFill>
            <a:prstDash val="solid"/>
          </a:ln>
        </p:spPr>
      </p:sp>
      <p:sp>
        <p:nvSpPr>
          <p:cNvPr id="24" name="Text 25">
            <a:extLst>
              <a:ext uri="{FF2B5EF4-FFF2-40B4-BE49-F238E27FC236}">
                <a16:creationId xmlns:a16="http://schemas.microsoft.com/office/drawing/2014/main" id="{B43319B0-6F33-4D40-8D7A-0EAEEC882BF4}"/>
              </a:ext>
            </a:extLst>
          </p:cNvPr>
          <p:cNvSpPr/>
          <p:nvPr/>
        </p:nvSpPr>
        <p:spPr>
          <a:xfrm>
            <a:off x="7516368" y="2267712"/>
            <a:ext cx="1828800" cy="566928"/>
          </a:xfrm>
          <a:prstGeom prst="rect">
            <a:avLst/>
          </a:prstGeom>
          <a:noFill/>
          <a:ln/>
        </p:spPr>
        <p:txBody>
          <a:bodyPr wrap="square" lIns="635" tIns="635" rIns="635" bIns="635" rtlCol="0" anchor="t">
            <a:noAutofit/>
          </a:bodyPr>
          <a:lstStyle/>
          <a:p>
            <a:pPr marL="0" indent="0" algn="ctr">
              <a:buNone/>
            </a:pPr>
            <a:r>
              <a:rPr lang="en-US" dirty="0">
                <a:solidFill>
                  <a:srgbClr val="111827"/>
                </a:solidFill>
                <a:latin typeface="Calibri" panose="020F0502020204030204" pitchFamily="34" charset="0"/>
                <a:ea typeface="Aptos" pitchFamily="34" charset="-122"/>
                <a:cs typeface="Calibri" panose="020F0502020204030204" pitchFamily="34" charset="0"/>
              </a:rPr>
              <a:t>Multi-client evaluation + baselines</a:t>
            </a:r>
            <a:endParaRPr lang="en-US" dirty="0">
              <a:latin typeface="Calibri" panose="020F0502020204030204" pitchFamily="34" charset="0"/>
              <a:cs typeface="Calibri" panose="020F0502020204030204" pitchFamily="34" charset="0"/>
            </a:endParaRPr>
          </a:p>
        </p:txBody>
      </p:sp>
      <p:sp>
        <p:nvSpPr>
          <p:cNvPr id="25" name="Shape 26">
            <a:extLst>
              <a:ext uri="{FF2B5EF4-FFF2-40B4-BE49-F238E27FC236}">
                <a16:creationId xmlns:a16="http://schemas.microsoft.com/office/drawing/2014/main" id="{3B2D5D4E-BD0D-402E-8266-57A5C0E589EF}"/>
              </a:ext>
            </a:extLst>
          </p:cNvPr>
          <p:cNvSpPr/>
          <p:nvPr/>
        </p:nvSpPr>
        <p:spPr>
          <a:xfrm>
            <a:off x="9464040" y="2587752"/>
            <a:ext cx="365760" cy="0"/>
          </a:xfrm>
          <a:prstGeom prst="line">
            <a:avLst/>
          </a:prstGeom>
          <a:noFill/>
          <a:ln w="20320">
            <a:solidFill>
              <a:srgbClr val="6B7280"/>
            </a:solidFill>
            <a:prstDash val="solid"/>
            <a:headEnd type="none"/>
            <a:tailEnd type="triangle"/>
          </a:ln>
        </p:spPr>
      </p:sp>
      <p:sp>
        <p:nvSpPr>
          <p:cNvPr id="26" name="Shape 27">
            <a:extLst>
              <a:ext uri="{FF2B5EF4-FFF2-40B4-BE49-F238E27FC236}">
                <a16:creationId xmlns:a16="http://schemas.microsoft.com/office/drawing/2014/main" id="{5724C640-33DC-40C3-9324-D30DAE387DC1}"/>
              </a:ext>
            </a:extLst>
          </p:cNvPr>
          <p:cNvSpPr/>
          <p:nvPr/>
        </p:nvSpPr>
        <p:spPr>
          <a:xfrm>
            <a:off x="9646920" y="1508760"/>
            <a:ext cx="2057400" cy="411480"/>
          </a:xfrm>
          <a:prstGeom prst="roundRect">
            <a:avLst>
              <a:gd name="adj" fmla="val 17778"/>
            </a:avLst>
          </a:prstGeom>
          <a:solidFill>
            <a:srgbClr val="FFFFFF"/>
          </a:solidFill>
          <a:ln w="13970">
            <a:solidFill>
              <a:srgbClr val="7B61FF"/>
            </a:solidFill>
            <a:prstDash val="solid"/>
          </a:ln>
        </p:spPr>
      </p:sp>
      <p:sp>
        <p:nvSpPr>
          <p:cNvPr id="27" name="Text 28">
            <a:extLst>
              <a:ext uri="{FF2B5EF4-FFF2-40B4-BE49-F238E27FC236}">
                <a16:creationId xmlns:a16="http://schemas.microsoft.com/office/drawing/2014/main" id="{CCC8F746-6818-4C82-9B38-D608403A9A37}"/>
              </a:ext>
            </a:extLst>
          </p:cNvPr>
          <p:cNvSpPr/>
          <p:nvPr/>
        </p:nvSpPr>
        <p:spPr>
          <a:xfrm>
            <a:off x="9692640" y="1581912"/>
            <a:ext cx="1965960" cy="301752"/>
          </a:xfrm>
          <a:prstGeom prst="rect">
            <a:avLst/>
          </a:prstGeom>
          <a:noFill/>
          <a:ln/>
        </p:spPr>
        <p:txBody>
          <a:bodyPr wrap="square" lIns="254" tIns="254" rIns="254" bIns="254" rtlCol="0" anchor="ctr">
            <a:normAutofit/>
          </a:bodyPr>
          <a:lstStyle/>
          <a:p>
            <a:pPr marL="0" indent="0" algn="ctr">
              <a:buNone/>
            </a:pPr>
            <a:r>
              <a:rPr lang="en-US" b="1" dirty="0">
                <a:solidFill>
                  <a:srgbClr val="7B61FF"/>
                </a:solidFill>
                <a:latin typeface="Calibri" panose="020F0502020204030204" pitchFamily="34" charset="0"/>
                <a:cs typeface="Calibri" panose="020F0502020204030204" pitchFamily="34" charset="0"/>
              </a:rPr>
              <a:t>13–20 Nov</a:t>
            </a:r>
            <a:endParaRPr lang="en-US" dirty="0">
              <a:latin typeface="Calibri" panose="020F0502020204030204" pitchFamily="34" charset="0"/>
              <a:cs typeface="Calibri" panose="020F0502020204030204" pitchFamily="34" charset="0"/>
            </a:endParaRPr>
          </a:p>
        </p:txBody>
      </p:sp>
      <p:sp>
        <p:nvSpPr>
          <p:cNvPr id="28" name="Shape 29">
            <a:extLst>
              <a:ext uri="{FF2B5EF4-FFF2-40B4-BE49-F238E27FC236}">
                <a16:creationId xmlns:a16="http://schemas.microsoft.com/office/drawing/2014/main" id="{71B815CB-7AFF-4A15-BA32-261C5A203964}"/>
              </a:ext>
            </a:extLst>
          </p:cNvPr>
          <p:cNvSpPr/>
          <p:nvPr/>
        </p:nvSpPr>
        <p:spPr>
          <a:xfrm>
            <a:off x="9646920" y="2057400"/>
            <a:ext cx="2057400" cy="1051560"/>
          </a:xfrm>
          <a:prstGeom prst="roundRect">
            <a:avLst>
              <a:gd name="adj" fmla="val 6957"/>
            </a:avLst>
          </a:prstGeom>
          <a:solidFill>
            <a:srgbClr val="E9FBF9"/>
          </a:solidFill>
          <a:ln w="7620">
            <a:solidFill>
              <a:srgbClr val="7B61FF"/>
            </a:solidFill>
            <a:prstDash val="solid"/>
          </a:ln>
        </p:spPr>
      </p:sp>
      <p:sp>
        <p:nvSpPr>
          <p:cNvPr id="29" name="Text 30">
            <a:extLst>
              <a:ext uri="{FF2B5EF4-FFF2-40B4-BE49-F238E27FC236}">
                <a16:creationId xmlns:a16="http://schemas.microsoft.com/office/drawing/2014/main" id="{09715B74-24D8-42F4-8F13-40FD54261909}"/>
              </a:ext>
            </a:extLst>
          </p:cNvPr>
          <p:cNvSpPr/>
          <p:nvPr/>
        </p:nvSpPr>
        <p:spPr>
          <a:xfrm>
            <a:off x="9756648" y="2267712"/>
            <a:ext cx="1828800" cy="566928"/>
          </a:xfrm>
          <a:prstGeom prst="rect">
            <a:avLst/>
          </a:prstGeom>
          <a:noFill/>
          <a:ln/>
        </p:spPr>
        <p:txBody>
          <a:bodyPr wrap="square" lIns="635" tIns="635" rIns="635" bIns="635" rtlCol="0" anchor="t">
            <a:normAutofit/>
          </a:bodyPr>
          <a:lstStyle/>
          <a:p>
            <a:pPr marL="0" indent="0" algn="ctr">
              <a:buNone/>
            </a:pPr>
            <a:r>
              <a:rPr lang="en-US" dirty="0">
                <a:solidFill>
                  <a:srgbClr val="111827"/>
                </a:solidFill>
                <a:latin typeface="Calibri" panose="020F0502020204030204" pitchFamily="34" charset="0"/>
                <a:ea typeface="Aptos" pitchFamily="34" charset="-122"/>
                <a:cs typeface="Calibri" panose="020F0502020204030204" pitchFamily="34" charset="0"/>
              </a:rPr>
              <a:t>Demo, report, presentation</a:t>
            </a:r>
            <a:endParaRPr lang="en-US" dirty="0">
              <a:latin typeface="Calibri" panose="020F0502020204030204" pitchFamily="34" charset="0"/>
              <a:cs typeface="Calibri" panose="020F0502020204030204" pitchFamily="34" charset="0"/>
            </a:endParaRPr>
          </a:p>
        </p:txBody>
      </p:sp>
      <p:sp>
        <p:nvSpPr>
          <p:cNvPr id="30" name="Shape 31">
            <a:extLst>
              <a:ext uri="{FF2B5EF4-FFF2-40B4-BE49-F238E27FC236}">
                <a16:creationId xmlns:a16="http://schemas.microsoft.com/office/drawing/2014/main" id="{7FCBA7F3-4BDE-4248-BD87-280F23F7D364}"/>
              </a:ext>
            </a:extLst>
          </p:cNvPr>
          <p:cNvSpPr/>
          <p:nvPr/>
        </p:nvSpPr>
        <p:spPr>
          <a:xfrm>
            <a:off x="685800" y="3886199"/>
            <a:ext cx="5257800" cy="1791117"/>
          </a:xfrm>
          <a:prstGeom prst="roundRect">
            <a:avLst>
              <a:gd name="adj" fmla="val 5161"/>
            </a:avLst>
          </a:prstGeom>
          <a:solidFill>
            <a:srgbClr val="E9FBF9"/>
          </a:solidFill>
          <a:ln w="7620">
            <a:solidFill>
              <a:srgbClr val="19A7A5"/>
            </a:solidFill>
            <a:prstDash val="solid"/>
          </a:ln>
        </p:spPr>
      </p:sp>
      <p:sp>
        <p:nvSpPr>
          <p:cNvPr id="31" name="Text 32">
            <a:extLst>
              <a:ext uri="{FF2B5EF4-FFF2-40B4-BE49-F238E27FC236}">
                <a16:creationId xmlns:a16="http://schemas.microsoft.com/office/drawing/2014/main" id="{C16EA0D5-C9D0-4BB3-B525-56AF39B31E63}"/>
              </a:ext>
            </a:extLst>
          </p:cNvPr>
          <p:cNvSpPr/>
          <p:nvPr/>
        </p:nvSpPr>
        <p:spPr>
          <a:xfrm>
            <a:off x="960120" y="4133088"/>
            <a:ext cx="4663440" cy="411480"/>
          </a:xfrm>
          <a:prstGeom prst="rect">
            <a:avLst/>
          </a:prstGeom>
          <a:noFill/>
          <a:ln/>
        </p:spPr>
        <p:txBody>
          <a:bodyPr wrap="square" lIns="635" tIns="635" rIns="635" bIns="635" rtlCol="0" anchor="t">
            <a:noAutofit/>
          </a:bodyPr>
          <a:lstStyle/>
          <a:p>
            <a:pPr marL="0" indent="0" algn="ctr">
              <a:buNone/>
            </a:pPr>
            <a:r>
              <a:rPr lang="en-US" sz="2400" b="1" dirty="0" err="1">
                <a:solidFill>
                  <a:srgbClr val="19A7A5"/>
                </a:solidFill>
                <a:latin typeface="Calibri" panose="020F0502020204030204" pitchFamily="34" charset="0"/>
                <a:ea typeface="Aptos" pitchFamily="34" charset="-122"/>
                <a:cs typeface="Calibri" panose="020F0502020204030204" pitchFamily="34" charset="0"/>
              </a:rPr>
              <a:t>Juntao</a:t>
            </a:r>
            <a:r>
              <a:rPr lang="en-US" sz="2400" b="1" dirty="0">
                <a:solidFill>
                  <a:srgbClr val="19A7A5"/>
                </a:solidFill>
                <a:latin typeface="Calibri" panose="020F0502020204030204" pitchFamily="34" charset="0"/>
                <a:ea typeface="Aptos" pitchFamily="34" charset="-122"/>
                <a:cs typeface="Calibri" panose="020F0502020204030204" pitchFamily="34" charset="0"/>
              </a:rPr>
              <a:t> Hu</a:t>
            </a:r>
            <a:endParaRPr lang="en-US" sz="2400" dirty="0">
              <a:latin typeface="Calibri" panose="020F0502020204030204" pitchFamily="34" charset="0"/>
              <a:cs typeface="Calibri" panose="020F0502020204030204" pitchFamily="34" charset="0"/>
            </a:endParaRPr>
          </a:p>
        </p:txBody>
      </p:sp>
      <p:sp>
        <p:nvSpPr>
          <p:cNvPr id="32" name="Text 33">
            <a:extLst>
              <a:ext uri="{FF2B5EF4-FFF2-40B4-BE49-F238E27FC236}">
                <a16:creationId xmlns:a16="http://schemas.microsoft.com/office/drawing/2014/main" id="{81F05EA8-E4DC-4EE0-97FF-C87F6A9FBBF9}"/>
              </a:ext>
            </a:extLst>
          </p:cNvPr>
          <p:cNvSpPr/>
          <p:nvPr/>
        </p:nvSpPr>
        <p:spPr>
          <a:xfrm>
            <a:off x="960120" y="4590288"/>
            <a:ext cx="4663440" cy="685800"/>
          </a:xfrm>
          <a:prstGeom prst="rect">
            <a:avLst/>
          </a:prstGeom>
          <a:noFill/>
          <a:ln/>
        </p:spPr>
        <p:txBody>
          <a:bodyPr wrap="square" lIns="635" tIns="635" rIns="635" bIns="635" rtlCol="0" anchor="t">
            <a:noAutofit/>
          </a:bodyPr>
          <a:lstStyle/>
          <a:p>
            <a:pPr marL="0" indent="0" algn="ctr">
              <a:buNone/>
            </a:pPr>
            <a:r>
              <a:rPr lang="en-US" sz="2000" dirty="0">
                <a:solidFill>
                  <a:srgbClr val="111827"/>
                </a:solidFill>
                <a:latin typeface="Calibri" panose="020F0502020204030204" pitchFamily="34" charset="0"/>
                <a:ea typeface="Aptos" pitchFamily="34" charset="-122"/>
                <a:cs typeface="Calibri" panose="020F0502020204030204" pitchFamily="34" charset="0"/>
              </a:rPr>
              <a:t>Local model, caption bank, acceptance rule, VLM server, caption quality evaluation.</a:t>
            </a:r>
            <a:endParaRPr lang="en-US" sz="2000" dirty="0">
              <a:latin typeface="Calibri" panose="020F0502020204030204" pitchFamily="34" charset="0"/>
              <a:cs typeface="Calibri" panose="020F0502020204030204" pitchFamily="34" charset="0"/>
            </a:endParaRPr>
          </a:p>
        </p:txBody>
      </p:sp>
      <p:sp>
        <p:nvSpPr>
          <p:cNvPr id="33" name="Shape 34">
            <a:extLst>
              <a:ext uri="{FF2B5EF4-FFF2-40B4-BE49-F238E27FC236}">
                <a16:creationId xmlns:a16="http://schemas.microsoft.com/office/drawing/2014/main" id="{3B31132A-CFDF-4885-9DB6-BBAEB063B6F4}"/>
              </a:ext>
            </a:extLst>
          </p:cNvPr>
          <p:cNvSpPr/>
          <p:nvPr/>
        </p:nvSpPr>
        <p:spPr>
          <a:xfrm>
            <a:off x="6400800" y="3886200"/>
            <a:ext cx="5166360" cy="1791116"/>
          </a:xfrm>
          <a:prstGeom prst="roundRect">
            <a:avLst>
              <a:gd name="adj" fmla="val 5161"/>
            </a:avLst>
          </a:prstGeom>
          <a:solidFill>
            <a:srgbClr val="EAF3FF"/>
          </a:solidFill>
          <a:ln w="7620">
            <a:solidFill>
              <a:srgbClr val="2F80ED"/>
            </a:solidFill>
            <a:prstDash val="solid"/>
          </a:ln>
        </p:spPr>
      </p:sp>
      <p:sp>
        <p:nvSpPr>
          <p:cNvPr id="34" name="Text 35">
            <a:extLst>
              <a:ext uri="{FF2B5EF4-FFF2-40B4-BE49-F238E27FC236}">
                <a16:creationId xmlns:a16="http://schemas.microsoft.com/office/drawing/2014/main" id="{0A303A7B-1B79-45B9-92DD-F567CE85A4DD}"/>
              </a:ext>
            </a:extLst>
          </p:cNvPr>
          <p:cNvSpPr/>
          <p:nvPr/>
        </p:nvSpPr>
        <p:spPr>
          <a:xfrm>
            <a:off x="6720840" y="4133088"/>
            <a:ext cx="4526280" cy="411480"/>
          </a:xfrm>
          <a:prstGeom prst="rect">
            <a:avLst/>
          </a:prstGeom>
          <a:noFill/>
          <a:ln/>
        </p:spPr>
        <p:txBody>
          <a:bodyPr wrap="square" lIns="635" tIns="635" rIns="635" bIns="635" rtlCol="0" anchor="t">
            <a:noAutofit/>
          </a:bodyPr>
          <a:lstStyle/>
          <a:p>
            <a:pPr marL="0" indent="0" algn="ctr">
              <a:buNone/>
            </a:pPr>
            <a:r>
              <a:rPr lang="en-US" sz="2400" b="1" dirty="0" err="1">
                <a:solidFill>
                  <a:srgbClr val="2F80ED"/>
                </a:solidFill>
                <a:latin typeface="Calibri" panose="020F0502020204030204" pitchFamily="34" charset="0"/>
                <a:ea typeface="Aptos" pitchFamily="34" charset="-122"/>
                <a:cs typeface="Calibri" panose="020F0502020204030204" pitchFamily="34" charset="0"/>
              </a:rPr>
              <a:t>Tianchen</a:t>
            </a:r>
            <a:r>
              <a:rPr lang="en-US" sz="2400" b="1" dirty="0">
                <a:solidFill>
                  <a:srgbClr val="2F80ED"/>
                </a:solidFill>
                <a:latin typeface="Calibri" panose="020F0502020204030204" pitchFamily="34" charset="0"/>
                <a:ea typeface="Aptos" pitchFamily="34" charset="-122"/>
                <a:cs typeface="Calibri" panose="020F0502020204030204" pitchFamily="34" charset="0"/>
              </a:rPr>
              <a:t> Liu</a:t>
            </a:r>
            <a:endParaRPr lang="en-US" sz="2400" dirty="0">
              <a:latin typeface="Calibri" panose="020F0502020204030204" pitchFamily="34" charset="0"/>
              <a:cs typeface="Calibri" panose="020F0502020204030204" pitchFamily="34" charset="0"/>
            </a:endParaRPr>
          </a:p>
        </p:txBody>
      </p:sp>
      <p:sp>
        <p:nvSpPr>
          <p:cNvPr id="35" name="Text 36">
            <a:extLst>
              <a:ext uri="{FF2B5EF4-FFF2-40B4-BE49-F238E27FC236}">
                <a16:creationId xmlns:a16="http://schemas.microsoft.com/office/drawing/2014/main" id="{B9D7C6B9-8234-4323-926A-90A8D1DC2A84}"/>
              </a:ext>
            </a:extLst>
          </p:cNvPr>
          <p:cNvSpPr/>
          <p:nvPr/>
        </p:nvSpPr>
        <p:spPr>
          <a:xfrm>
            <a:off x="6720840" y="4590288"/>
            <a:ext cx="4526280" cy="685800"/>
          </a:xfrm>
          <a:prstGeom prst="rect">
            <a:avLst/>
          </a:prstGeom>
          <a:noFill/>
          <a:ln/>
        </p:spPr>
        <p:txBody>
          <a:bodyPr wrap="square" lIns="635" tIns="635" rIns="635" bIns="635" rtlCol="0" anchor="t">
            <a:noAutofit/>
          </a:bodyPr>
          <a:lstStyle/>
          <a:p>
            <a:pPr marL="0" indent="0" algn="ctr">
              <a:buNone/>
            </a:pPr>
            <a:r>
              <a:rPr lang="en-US" sz="2000" dirty="0">
                <a:solidFill>
                  <a:srgbClr val="111827"/>
                </a:solidFill>
                <a:latin typeface="Calibri" panose="020F0502020204030204" pitchFamily="34" charset="0"/>
                <a:ea typeface="Aptos" pitchFamily="34" charset="-122"/>
                <a:cs typeface="Calibri" panose="020F0502020204030204" pitchFamily="34" charset="0"/>
              </a:rPr>
              <a:t>Latency predictor, dynamic budget, upload scheduler, multi-client simulation.</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184492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TotalTime>
  <Words>1000</Words>
  <Application>Microsoft Office PowerPoint</Application>
  <PresentationFormat>宽屏</PresentationFormat>
  <Paragraphs>141</Paragraphs>
  <Slides>8</Slides>
  <Notes>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等线</vt:lpstr>
      <vt:lpstr>等线 Light</vt:lpstr>
      <vt:lpstr>Aptos</vt:lpstr>
      <vt:lpstr>Aptos Display</vt:lpstr>
      <vt:lpstr>Arial</vt:lpstr>
      <vt:lpstr>Calibri</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骏涛 胡</dc:creator>
  <cp:lastModifiedBy>TC Liu</cp:lastModifiedBy>
  <cp:revision>13</cp:revision>
  <dcterms:created xsi:type="dcterms:W3CDTF">2026-09-24T11:36:43Z</dcterms:created>
  <dcterms:modified xsi:type="dcterms:W3CDTF">2026-09-25T04:38:16Z</dcterms:modified>
</cp:coreProperties>
</file>